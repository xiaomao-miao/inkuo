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Sz cx="12192000" cy="6858000"/>
  <p:notesSz cx="6858000" cy="9144000"/>
  <p:defaultTextStyle>
    <a:defPPr/>
  </p:defaultTextStyle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/Relationships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A2E">
              <a:alpha val="100000"/>
            </a:srgbClr>
          </a:solidFill>
          <a:ln>
            <a:noFill/>
          </a:ln>
        </p:spPr>
      </p:sp>
      <p:sp>
        <p:nvSpPr>
          <p:cNvPr id="3" name="Shape"/>
          <p:cNvSpPr/>
          <p:nvPr/>
        </p:nvSpPr>
        <p:spPr>
          <a:xfrm>
            <a:off x="8763000" y="-762000"/>
            <a:ext cx="3429000" cy="3429000"/>
          </a:xfrm>
          <a:prstGeom prst="ellipse">
            <a:avLst/>
          </a:prstGeom>
          <a:noFill/>
          <a:ln w="25400">
            <a:solidFill>
              <a:srgbClr val="FFFFFF">
                <a:alpha val="3000"/>
              </a:srgbClr>
            </a:solidFill>
          </a:ln>
        </p:spPr>
      </p:sp>
      <p:sp>
        <p:nvSpPr>
          <p:cNvPr id="4" name="Shape"/>
          <p:cNvSpPr/>
          <p:nvPr/>
        </p:nvSpPr>
        <p:spPr>
          <a:xfrm>
            <a:off x="762000" y="4572000"/>
            <a:ext cx="2286000" cy="2286000"/>
          </a:xfrm>
          <a:prstGeom prst="ellipse">
            <a:avLst/>
          </a:prstGeom>
          <a:noFill/>
          <a:ln w="25400">
            <a:solidFill>
              <a:srgbClr val="FFFFFF">
                <a:alpha val="3000"/>
              </a:srgbClr>
            </a:solidFill>
          </a:ln>
        </p:spPr>
      </p:sp>
      <p:sp>
        <p:nvSpPr>
          <p:cNvPr id="5" name="Shape"/>
          <p:cNvSpPr/>
          <p:nvPr/>
        </p:nvSpPr>
        <p:spPr>
          <a:xfrm>
            <a:off x="3238500" y="571500"/>
            <a:ext cx="5715000" cy="5715000"/>
          </a:xfrm>
          <a:prstGeom prst="ellipse">
            <a:avLst/>
          </a:prstGeom>
          <a:noFill/>
          <a:ln w="12700">
            <a:solidFill>
              <a:srgbClr val="FFFFFF">
                <a:alpha val="2000"/>
              </a:srgbClr>
            </a:solidFill>
          </a:ln>
        </p:spPr>
      </p:sp>
      <p:sp>
        <p:nvSpPr>
          <p:cNvPr id="6" name="Shape"/>
          <p:cNvSpPr/>
          <p:nvPr/>
        </p:nvSpPr>
        <p:spPr>
          <a:xfrm>
            <a:off x="5143500" y="2286000"/>
            <a:ext cx="1905000" cy="38100"/>
          </a:xfrm>
          <a:prstGeom prst="roundRect">
            <a:avLst>
              <a:gd name="adj" fmla="val 1000"/>
            </a:avLst>
          </a:prstGeom>
          <a:solidFill>
            <a:srgbClr val="00D2FF">
              <a:alpha val="100000"/>
            </a:srgbClr>
          </a:solidFill>
          <a:ln>
            <a:noFill/>
          </a:ln>
        </p:spPr>
      </p:sp>
      <p:sp>
        <p:nvSpPr>
          <p:cNvPr id="7" name="TextBox"/>
          <p:cNvSpPr/>
          <p:nvPr/>
        </p:nvSpPr>
        <p:spPr>
          <a:xfrm>
            <a:off x="0" y="3333750"/>
            <a:ext cx="12192000" cy="1137920"/>
          </a:xfrm>
        </p:spPr>
        <p:txBody>
          <a:bodyPr wrap="square" rtlCol="0" anchor="t"/>
          <a:lstStyle/>
          <a:p>
            <a:pPr algn="ctr"/>
            <a:r>
              <a:rPr lang="en-US" sz="6400" b="0" i="0" u="none">
                <a:solidFill>
                  <a:srgbClr val="FFFFFF"/>
                </a:solidFill>
              </a:rPr>
              <a:t>InkUO</a:t>
            </a:r>
          </a:p>
        </p:txBody>
      </p:sp>
      <p:sp>
        <p:nvSpPr>
          <p:cNvPr id="8" name="TextBox"/>
          <p:cNvSpPr/>
          <p:nvPr/>
        </p:nvSpPr>
        <p:spPr>
          <a:xfrm>
            <a:off x="0" y="3905250"/>
            <a:ext cx="12192000" cy="497840"/>
          </a:xfrm>
        </p:spPr>
        <p:txBody>
          <a:bodyPr wrap="square" rtlCol="0" anchor="t"/>
          <a:lstStyle/>
          <a:p>
            <a:pPr algn="ctr"/>
            <a:r>
              <a:rPr lang="en-US" sz="2800" b="0" i="0" u="none">
                <a:solidFill>
                  <a:srgbClr val="A0B4D8"/>
                </a:solidFill>
              </a:rPr>
              <a:t>AI 文档编辑器</a:t>
            </a:r>
          </a:p>
        </p:txBody>
      </p:sp>
      <p:sp>
        <p:nvSpPr>
          <p:cNvPr id="9" name="TextBox"/>
          <p:cNvSpPr/>
          <p:nvPr/>
        </p:nvSpPr>
        <p:spPr>
          <a:xfrm>
            <a:off x="0" y="4381500"/>
            <a:ext cx="12192000" cy="320040"/>
          </a:xfrm>
        </p:spPr>
        <p:txBody>
          <a:bodyPr wrap="square" rtlCol="0" anchor="t"/>
          <a:lstStyle/>
          <a:p>
            <a:pPr algn="ctr"/>
            <a:r>
              <a:rPr lang="en-US" sz="1800" b="0" i="0" u="none">
                <a:solidFill>
                  <a:srgbClr val="6C8EB0"/>
                </a:solidFill>
              </a:rPr>
              <a:t>重新定义文档编辑方式</a:t>
            </a:r>
          </a:p>
        </p:txBody>
      </p:sp>
      <p:sp>
        <p:nvSpPr>
          <p:cNvPr id="10" name="TextBox"/>
          <p:cNvSpPr/>
          <p:nvPr/>
        </p:nvSpPr>
        <p:spPr>
          <a:xfrm>
            <a:off x="0" y="5715000"/>
            <a:ext cx="12192000" cy="248920"/>
          </a:xfrm>
        </p:spPr>
        <p:txBody>
          <a:bodyPr wrap="square" rtlCol="0" anchor="t"/>
          <a:lstStyle/>
          <a:p>
            <a:pPr algn="ctr"/>
            <a:r>
              <a:rPr lang="en-US" sz="1400" b="0" i="0" u="none">
                <a:solidFill>
                  <a:srgbClr val="4A6A8A"/>
                </a:solidFill>
              </a:rPr>
              <a:t>版本 0.1.0 ｜ 基于 Tauri 2 + React 19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0F23">
              <a:alpha val="100000"/>
            </a:srgbClr>
          </a:solidFill>
          <a:ln>
            <a:noFill/>
          </a:ln>
        </p:spPr>
      </p:sp>
      <p:sp>
        <p:nvSpPr>
          <p:cNvPr id="3" name="Shape"/>
          <p:cNvSpPr/>
          <p:nvPr/>
        </p:nvSpPr>
        <p:spPr>
          <a:xfrm>
            <a:off x="762000" y="571500"/>
            <a:ext cx="571500" cy="38100"/>
          </a:xfrm>
          <a:prstGeom prst="roundRect">
            <a:avLst>
              <a:gd name="adj" fmla="val 3333"/>
            </a:avLst>
          </a:prstGeom>
          <a:solidFill>
            <a:srgbClr val="00D2FF">
              <a:alpha val="100000"/>
            </a:srgbClr>
          </a:solidFill>
          <a:ln>
            <a:noFill/>
          </a:ln>
        </p:spPr>
      </p:sp>
      <p:sp>
        <p:nvSpPr>
          <p:cNvPr id="4" name="TextBox"/>
          <p:cNvSpPr/>
          <p:nvPr/>
        </p:nvSpPr>
        <p:spPr>
          <a:xfrm>
            <a:off x="762000" y="1047750"/>
            <a:ext cx="12192000" cy="640080"/>
          </a:xfrm>
        </p:spPr>
        <p:txBody>
          <a:bodyPr wrap="square" rtlCol="0" anchor="t"/>
          <a:lstStyle/>
          <a:p>
            <a:pPr algn="l"/>
            <a:r>
              <a:rPr lang="en-US" sz="3600" b="0" i="0" u="none">
                <a:solidFill>
                  <a:srgbClr val="FFFFFF"/>
                </a:solidFill>
              </a:rPr>
              <a:t>产品概述</a:t>
            </a:r>
          </a:p>
        </p:txBody>
      </p:sp>
      <p:cxnSp>
        <p:nvCxnSpPr>
          <p:cNvPr id="5" name="Line"/>
          <p:cNvCxnSpPr/>
          <p:nvPr/>
        </p:nvCxnSpPr>
        <p:spPr>
          <a:xfrm>
            <a:off x="762000" y="1190625"/>
            <a:ext cx="4000500" cy="0"/>
          </a:xfrm>
          <a:prstGeom prst="line">
            <a:avLst/>
          </a:prstGeom>
          <a:ln w="12700">
            <a:solidFill>
              <a:srgbClr val="FFFFFF"/>
            </a:solidFill>
          </a:ln>
        </p:spPr>
      </p:cxnSp>
      <p:sp>
        <p:nvSpPr>
          <p:cNvPr id="6" name="TextBox"/>
          <p:cNvSpPr/>
          <p:nvPr/>
        </p:nvSpPr>
        <p:spPr>
          <a:xfrm>
            <a:off x="762000" y="2000250"/>
            <a:ext cx="12192000" cy="320040"/>
          </a:xfrm>
        </p:spPr>
        <p:txBody>
          <a:bodyPr wrap="square" rtlCol="0" anchor="t"/>
          <a:lstStyle/>
          <a:p>
            <a:pPr algn="l"/>
            <a:r>
              <a:rPr lang="en-US" sz="1800" b="0" i="0" u="none">
                <a:solidFill>
                  <a:srgbClr val="C0D0E8"/>
                </a:solidFill>
              </a:rPr>
              <a:t>InkUO 是一款面向知识工作者、开发者和创意团队的</a:t>
            </a:r>
            <a:r>
              <a:rPr lang="en-US" sz="1800" b="0" i="0" u="none">
                <a:solidFill>
                  <a:srgbClr val="C0D0E8"/>
                </a:solidFill>
              </a:rPr>
              <a:t>AI 驱动文档编辑器桌面端。</a:t>
            </a:r>
          </a:p>
        </p:txBody>
      </p:sp>
      <p:sp>
        <p:nvSpPr>
          <p:cNvPr id="7" name="Shape"/>
          <p:cNvSpPr/>
          <p:nvPr/>
        </p:nvSpPr>
        <p:spPr>
          <a:xfrm>
            <a:off x="762000" y="2857500"/>
            <a:ext cx="3333750" cy="857250"/>
          </a:xfrm>
          <a:prstGeom prst="roundRect">
            <a:avLst>
              <a:gd name="adj" fmla="val 2286"/>
            </a:avLst>
          </a:prstGeom>
          <a:solidFill>
            <a:srgbClr val="00D2FF">
              <a:alpha val="8000"/>
            </a:srgbClr>
          </a:solidFill>
          <a:ln w="12700">
            <a:solidFill>
              <a:srgbClr val="00D2FF">
                <a:alpha val="20000"/>
              </a:srgbClr>
            </a:solidFill>
          </a:ln>
        </p:spPr>
      </p:sp>
      <p:sp>
        <p:nvSpPr>
          <p:cNvPr id="8" name="TextBox"/>
          <p:cNvSpPr/>
          <p:nvPr/>
        </p:nvSpPr>
        <p:spPr>
          <a:xfrm>
            <a:off x="1047750" y="3238500"/>
            <a:ext cx="12192000" cy="320040"/>
          </a:xfrm>
        </p:spPr>
        <p:txBody>
          <a:bodyPr wrap="square" rtlCol="0" anchor="t"/>
          <a:lstStyle/>
          <a:p>
            <a:pPr algn="l"/>
            <a:r>
              <a:rPr lang="en-US" sz="1800" b="0" i="0" u="none">
                <a:solidFill>
                  <a:srgbClr val="00D2FF"/>
                </a:solidFill>
              </a:rPr>
              <a:t>多格式支持</a:t>
            </a:r>
          </a:p>
        </p:txBody>
      </p:sp>
      <p:sp>
        <p:nvSpPr>
          <p:cNvPr id="9" name="TextBox"/>
          <p:cNvSpPr/>
          <p:nvPr/>
        </p:nvSpPr>
        <p:spPr>
          <a:xfrm>
            <a:off x="1047750" y="3476625"/>
            <a:ext cx="12192000" cy="248920"/>
          </a:xfrm>
        </p:spPr>
        <p:txBody>
          <a:bodyPr wrap="square" rtlCol="0" anchor="t"/>
          <a:lstStyle/>
          <a:p>
            <a:pPr algn="l"/>
            <a:r>
              <a:rPr lang="en-US" sz="1400" b="0" i="0" u="none">
                <a:solidFill>
                  <a:srgbClr val="8AA8C8"/>
                </a:solidFill>
              </a:rPr>
              <a:t>Markdown · Word · Excel · 代码 · PDF · SVG</a:t>
            </a:r>
          </a:p>
        </p:txBody>
      </p:sp>
      <p:sp>
        <p:nvSpPr>
          <p:cNvPr id="10" name="Shape"/>
          <p:cNvSpPr/>
          <p:nvPr/>
        </p:nvSpPr>
        <p:spPr>
          <a:xfrm>
            <a:off x="4429125" y="2857500"/>
            <a:ext cx="3333750" cy="857250"/>
          </a:xfrm>
          <a:prstGeom prst="roundRect">
            <a:avLst>
              <a:gd name="adj" fmla="val 2286"/>
            </a:avLst>
          </a:prstGeom>
          <a:solidFill>
            <a:srgbClr val="3A7BD5">
              <a:alpha val="8000"/>
            </a:srgbClr>
          </a:solidFill>
          <a:ln w="12700">
            <a:solidFill>
              <a:srgbClr val="3A7BD5">
                <a:alpha val="20000"/>
              </a:srgbClr>
            </a:solidFill>
          </a:ln>
        </p:spPr>
      </p:sp>
      <p:sp>
        <p:nvSpPr>
          <p:cNvPr id="11" name="TextBox"/>
          <p:cNvSpPr/>
          <p:nvPr/>
        </p:nvSpPr>
        <p:spPr>
          <a:xfrm>
            <a:off x="4714875" y="3238500"/>
            <a:ext cx="12192000" cy="320040"/>
          </a:xfrm>
        </p:spPr>
        <p:txBody>
          <a:bodyPr wrap="square" rtlCol="0" anchor="t"/>
          <a:lstStyle/>
          <a:p>
            <a:pPr algn="l"/>
            <a:r>
              <a:rPr lang="en-US" sz="1800" b="0" i="0" u="none">
                <a:solidFill>
                  <a:srgbClr val="5A9BE5"/>
                </a:solidFill>
              </a:rPr>
              <a:t>AI 智能体</a:t>
            </a:r>
          </a:p>
        </p:txBody>
      </p:sp>
      <p:sp>
        <p:nvSpPr>
          <p:cNvPr id="12" name="TextBox"/>
          <p:cNvSpPr/>
          <p:nvPr/>
        </p:nvSpPr>
        <p:spPr>
          <a:xfrm>
            <a:off x="4714875" y="3476625"/>
            <a:ext cx="12192000" cy="248920"/>
          </a:xfrm>
        </p:spPr>
        <p:txBody>
          <a:bodyPr wrap="square" rtlCol="0" anchor="t"/>
          <a:lstStyle/>
          <a:p>
            <a:pPr algn="l"/>
            <a:r>
              <a:rPr lang="en-US" sz="1400" b="0" i="0" u="none">
                <a:solidFill>
                  <a:srgbClr val="8AA8C8"/>
                </a:solidFill>
              </a:rPr>
              <a:t>Ask · Plan · Agent 三模式 AI 助手</a:t>
            </a:r>
          </a:p>
        </p:txBody>
      </p:sp>
      <p:sp>
        <p:nvSpPr>
          <p:cNvPr id="13" name="Shape"/>
          <p:cNvSpPr/>
          <p:nvPr/>
        </p:nvSpPr>
        <p:spPr>
          <a:xfrm>
            <a:off x="8096250" y="2857500"/>
            <a:ext cx="3333750" cy="857250"/>
          </a:xfrm>
          <a:prstGeom prst="roundRect">
            <a:avLst>
              <a:gd name="adj" fmla="val 2286"/>
            </a:avLst>
          </a:prstGeom>
          <a:solidFill>
            <a:srgbClr val="64C896">
              <a:alpha val="8000"/>
            </a:srgbClr>
          </a:solidFill>
          <a:ln w="12700">
            <a:solidFill>
              <a:srgbClr val="64C896">
                <a:alpha val="20000"/>
              </a:srgbClr>
            </a:solidFill>
          </a:ln>
        </p:spPr>
      </p:sp>
      <p:sp>
        <p:nvSpPr>
          <p:cNvPr id="14" name="TextBox"/>
          <p:cNvSpPr/>
          <p:nvPr/>
        </p:nvSpPr>
        <p:spPr>
          <a:xfrm>
            <a:off x="8382000" y="3238500"/>
            <a:ext cx="12192000" cy="320040"/>
          </a:xfrm>
        </p:spPr>
        <p:txBody>
          <a:bodyPr wrap="square" rtlCol="0" anchor="t"/>
          <a:lstStyle/>
          <a:p>
            <a:pPr algn="l"/>
            <a:r>
              <a:rPr lang="en-US" sz="1800" b="0" i="0" u="none">
                <a:solidFill>
                  <a:srgbClr val="6CC8A0"/>
                </a:solidFill>
              </a:rPr>
              <a:t>桌面原生体验</a:t>
            </a:r>
          </a:p>
        </p:txBody>
      </p:sp>
      <p:sp>
        <p:nvSpPr>
          <p:cNvPr id="15" name="TextBox"/>
          <p:cNvSpPr/>
          <p:nvPr/>
        </p:nvSpPr>
        <p:spPr>
          <a:xfrm>
            <a:off x="8382000" y="3476625"/>
            <a:ext cx="12192000" cy="248920"/>
          </a:xfrm>
        </p:spPr>
        <p:txBody>
          <a:bodyPr wrap="square" rtlCol="0" anchor="t"/>
          <a:lstStyle/>
          <a:p>
            <a:pPr algn="l"/>
            <a:r>
              <a:rPr lang="en-US" sz="1400" b="0" i="0" u="none">
                <a:solidFill>
                  <a:srgbClr val="8AA8C8"/>
                </a:solidFill>
              </a:rPr>
              <a:t>Tauri 2 · 原生性能 · 跨平台</a:t>
            </a:r>
          </a:p>
        </p:txBody>
      </p:sp>
      <p:sp>
        <p:nvSpPr>
          <p:cNvPr id="16" name="TextBox"/>
          <p:cNvSpPr/>
          <p:nvPr/>
        </p:nvSpPr>
        <p:spPr>
          <a:xfrm>
            <a:off x="762000" y="4476750"/>
            <a:ext cx="12192000" cy="284480"/>
          </a:xfrm>
        </p:spPr>
        <p:txBody>
          <a:bodyPr wrap="square" rtlCol="0" anchor="t"/>
          <a:lstStyle/>
          <a:p>
            <a:pPr algn="l"/>
            <a:r>
              <a:rPr lang="en-US" sz="1600" b="0" i="0" u="none">
                <a:solidFill>
                  <a:srgbClr val="7090B0"/>
                </a:solidFill>
              </a:rPr>
              <a:t>无论你是撰写技术文档、编辑报告、处理数据表格，</a:t>
            </a:r>
            <a:r>
              <a:rPr lang="en-US" sz="1600" b="0" i="0" u="none">
                <a:solidFill>
                  <a:srgbClr val="7090B0"/>
                </a:solidFill>
              </a:rPr>
              <a:t>还是阅读论文，InkUO 都能通过 AI 无缝融入你的工作流。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0F23">
              <a:alpha val="100000"/>
            </a:srgbClr>
          </a:solidFill>
          <a:ln>
            <a:noFill/>
          </a:ln>
        </p:spPr>
      </p:sp>
      <p:sp>
        <p:nvSpPr>
          <p:cNvPr id="3" name="TextBox"/>
          <p:cNvSpPr/>
          <p:nvPr/>
        </p:nvSpPr>
        <p:spPr>
          <a:xfrm>
            <a:off x="762000" y="1047750"/>
            <a:ext cx="12192000" cy="640080"/>
          </a:xfrm>
        </p:spPr>
        <p:txBody>
          <a:bodyPr wrap="square" rtlCol="0" anchor="t"/>
          <a:lstStyle/>
          <a:p>
            <a:pPr algn="l"/>
            <a:r>
              <a:rPr lang="en-US" sz="3600" b="0" i="0" u="none">
                <a:solidFill>
                  <a:srgbClr val="FFFFFF"/>
                </a:solidFill>
              </a:rPr>
              <a:t>AI 智能体系统</a:t>
            </a:r>
          </a:p>
        </p:txBody>
      </p:sp>
      <p:cxnSp>
        <p:nvCxnSpPr>
          <p:cNvPr id="4" name="Line"/>
          <p:cNvCxnSpPr/>
          <p:nvPr/>
        </p:nvCxnSpPr>
        <p:spPr>
          <a:xfrm>
            <a:off x="762000" y="1190625"/>
            <a:ext cx="4000500" cy="0"/>
          </a:xfrm>
          <a:prstGeom prst="line">
            <a:avLst/>
          </a:prstGeom>
          <a:ln w="12700">
            <a:solidFill>
              <a:srgbClr val="FFFFFF"/>
            </a:solidFill>
          </a:ln>
        </p:spPr>
      </p:cxnSp>
      <p:sp>
        <p:nvSpPr>
          <p:cNvPr id="5" name="Shape"/>
          <p:cNvSpPr/>
          <p:nvPr/>
        </p:nvSpPr>
        <p:spPr>
          <a:xfrm>
            <a:off x="762000" y="1714500"/>
            <a:ext cx="3238500" cy="1905000"/>
          </a:xfrm>
          <a:prstGeom prst="roundRect">
            <a:avLst>
              <a:gd name="adj" fmla="val 2941"/>
            </a:avLst>
          </a:prstGeom>
          <a:solidFill>
            <a:srgbClr val="00D2FF">
              <a:alpha val="6000"/>
            </a:srgbClr>
          </a:solidFill>
          <a:ln w="19050">
            <a:solidFill>
              <a:srgbClr val="00D2FF">
                <a:alpha val="25000"/>
              </a:srgbClr>
            </a:solidFill>
          </a:ln>
        </p:spPr>
      </p:sp>
      <p:sp>
        <p:nvSpPr>
          <p:cNvPr id="6" name="Shape"/>
          <p:cNvSpPr/>
          <p:nvPr/>
        </p:nvSpPr>
        <p:spPr>
          <a:xfrm>
            <a:off x="762000" y="1714500"/>
            <a:ext cx="3238500" cy="419100"/>
          </a:xfrm>
          <a:prstGeom prst="roundRect">
            <a:avLst>
              <a:gd name="adj" fmla="val 2941"/>
            </a:avLst>
          </a:prstGeom>
          <a:solidFill>
            <a:srgbClr val="00D2FF">
              <a:alpha val="12000"/>
            </a:srgbClr>
          </a:solidFill>
          <a:ln>
            <a:noFill/>
          </a:ln>
        </p:spPr>
      </p:sp>
      <p:sp>
        <p:nvSpPr>
          <p:cNvPr id="7" name="TextBox"/>
          <p:cNvSpPr/>
          <p:nvPr/>
        </p:nvSpPr>
        <p:spPr>
          <a:xfrm>
            <a:off x="-3714750" y="1981200"/>
            <a:ext cx="12192000" cy="355600"/>
          </a:xfrm>
        </p:spPr>
        <p:txBody>
          <a:bodyPr wrap="square" rtlCol="0" anchor="t"/>
          <a:lstStyle/>
          <a:p>
            <a:pPr algn="ctr"/>
            <a:r>
              <a:rPr lang="en-US" sz="2000" b="0" i="0" u="none">
                <a:solidFill>
                  <a:srgbClr val="00D2FF"/>
                </a:solidFill>
              </a:rPr>
              <a:t>Ask 问答模式</a:t>
            </a:r>
          </a:p>
        </p:txBody>
      </p:sp>
      <p:sp>
        <p:nvSpPr>
          <p:cNvPr id="8" name="TextBox"/>
          <p:cNvSpPr/>
          <p:nvPr/>
        </p:nvSpPr>
        <p:spPr>
          <a:xfrm>
            <a:off x="1047750" y="2476500"/>
            <a:ext cx="12192000" cy="266700"/>
          </a:xfrm>
        </p:spPr>
        <p:txBody>
          <a:bodyPr wrap="square" rtlCol="0" anchor="t"/>
          <a:lstStyle/>
          <a:p>
            <a:pPr algn="l"/>
            <a:r>
              <a:rPr lang="en-US" sz="1500" b="0" i="0" u="none">
                <a:solidFill>
                  <a:srgbClr val="B0C4D8"/>
                </a:solidFill>
              </a:rPr>
              <a:t>快速提问，获取即时回答</a:t>
            </a:r>
          </a:p>
        </p:txBody>
      </p:sp>
      <p:sp>
        <p:nvSpPr>
          <p:cNvPr id="9" name="TextBox"/>
          <p:cNvSpPr/>
          <p:nvPr/>
        </p:nvSpPr>
        <p:spPr>
          <a:xfrm>
            <a:off x="1047750" y="2762250"/>
            <a:ext cx="12192000" cy="266700"/>
          </a:xfrm>
        </p:spPr>
        <p:txBody>
          <a:bodyPr wrap="square" rtlCol="0" anchor="t"/>
          <a:lstStyle/>
          <a:p>
            <a:pPr algn="l"/>
            <a:r>
              <a:rPr lang="en-US" sz="1500" b="0" i="0" u="none">
                <a:solidFill>
                  <a:srgbClr val="B0C4D8"/>
                </a:solidFill>
              </a:rPr>
              <a:t>基于工作区知识库的语义搜索</a:t>
            </a:r>
          </a:p>
        </p:txBody>
      </p:sp>
      <p:sp>
        <p:nvSpPr>
          <p:cNvPr id="10" name="TextBox"/>
          <p:cNvSpPr/>
          <p:nvPr/>
        </p:nvSpPr>
        <p:spPr>
          <a:xfrm>
            <a:off x="1047750" y="3048000"/>
            <a:ext cx="12192000" cy="266700"/>
          </a:xfrm>
        </p:spPr>
        <p:txBody>
          <a:bodyPr wrap="square" rtlCol="0" anchor="t"/>
          <a:lstStyle/>
          <a:p>
            <a:pPr algn="l"/>
            <a:r>
              <a:rPr lang="en-US" sz="1500" b="0" i="0" u="none">
                <a:solidFill>
                  <a:srgbClr val="B0C4D8"/>
                </a:solidFill>
              </a:rPr>
              <a:t>上下文感知的精准回复</a:t>
            </a:r>
          </a:p>
        </p:txBody>
      </p:sp>
      <p:sp>
        <p:nvSpPr>
          <p:cNvPr id="11" name="TextBox"/>
          <p:cNvSpPr/>
          <p:nvPr/>
        </p:nvSpPr>
        <p:spPr>
          <a:xfrm>
            <a:off x="1047750" y="3333750"/>
            <a:ext cx="12192000" cy="266700"/>
          </a:xfrm>
        </p:spPr>
        <p:txBody>
          <a:bodyPr wrap="square" rtlCol="0" anchor="t"/>
          <a:lstStyle/>
          <a:p>
            <a:pPr algn="l"/>
            <a:r>
              <a:rPr lang="en-US" sz="1500" b="0" i="0" u="none">
                <a:solidFill>
                  <a:srgbClr val="B0C4D8"/>
                </a:solidFill>
              </a:rPr>
              <a:t>支持流式输出，实时生成</a:t>
            </a:r>
          </a:p>
        </p:txBody>
      </p:sp>
      <p:sp>
        <p:nvSpPr>
          <p:cNvPr id="12" name="Shape"/>
          <p:cNvSpPr/>
          <p:nvPr/>
        </p:nvSpPr>
        <p:spPr>
          <a:xfrm>
            <a:off x="4476750" y="1714500"/>
            <a:ext cx="3238500" cy="1905000"/>
          </a:xfrm>
          <a:prstGeom prst="roundRect">
            <a:avLst>
              <a:gd name="adj" fmla="val 2941"/>
            </a:avLst>
          </a:prstGeom>
          <a:solidFill>
            <a:srgbClr val="3A7BD5">
              <a:alpha val="6000"/>
            </a:srgbClr>
          </a:solidFill>
          <a:ln w="19050">
            <a:solidFill>
              <a:srgbClr val="3A7BD5">
                <a:alpha val="25000"/>
              </a:srgbClr>
            </a:solidFill>
          </a:ln>
        </p:spPr>
      </p:sp>
      <p:sp>
        <p:nvSpPr>
          <p:cNvPr id="13" name="Shape"/>
          <p:cNvSpPr/>
          <p:nvPr/>
        </p:nvSpPr>
        <p:spPr>
          <a:xfrm>
            <a:off x="4476750" y="1714500"/>
            <a:ext cx="3238500" cy="419100"/>
          </a:xfrm>
          <a:prstGeom prst="roundRect">
            <a:avLst>
              <a:gd name="adj" fmla="val 2941"/>
            </a:avLst>
          </a:prstGeom>
          <a:solidFill>
            <a:srgbClr val="3A7BD5">
              <a:alpha val="12000"/>
            </a:srgbClr>
          </a:solidFill>
          <a:ln>
            <a:noFill/>
          </a:ln>
        </p:spPr>
      </p:sp>
      <p:sp>
        <p:nvSpPr>
          <p:cNvPr id="14" name="TextBox"/>
          <p:cNvSpPr/>
          <p:nvPr/>
        </p:nvSpPr>
        <p:spPr>
          <a:xfrm>
            <a:off x="0" y="1981200"/>
            <a:ext cx="12192000" cy="355600"/>
          </a:xfrm>
        </p:spPr>
        <p:txBody>
          <a:bodyPr wrap="square" rtlCol="0" anchor="t"/>
          <a:lstStyle/>
          <a:p>
            <a:pPr algn="ctr"/>
            <a:r>
              <a:rPr lang="en-US" sz="2000" b="0" i="0" u="none">
                <a:solidFill>
                  <a:srgbClr val="5A9BE5"/>
                </a:solidFill>
              </a:rPr>
              <a:t>Plan 计划模式</a:t>
            </a:r>
          </a:p>
        </p:txBody>
      </p:sp>
      <p:sp>
        <p:nvSpPr>
          <p:cNvPr id="15" name="TextBox"/>
          <p:cNvSpPr/>
          <p:nvPr/>
        </p:nvSpPr>
        <p:spPr>
          <a:xfrm>
            <a:off x="4762500" y="2476500"/>
            <a:ext cx="12192000" cy="266700"/>
          </a:xfrm>
        </p:spPr>
        <p:txBody>
          <a:bodyPr wrap="square" rtlCol="0" anchor="t"/>
          <a:lstStyle/>
          <a:p>
            <a:pPr algn="l"/>
            <a:r>
              <a:rPr lang="en-US" sz="1500" b="0" i="0" u="none">
                <a:solidFill>
                  <a:srgbClr val="B0C4D8"/>
                </a:solidFill>
              </a:rPr>
              <a:t>AI 分析需求，制定执行计划</a:t>
            </a:r>
          </a:p>
        </p:txBody>
      </p:sp>
      <p:sp>
        <p:nvSpPr>
          <p:cNvPr id="16" name="TextBox"/>
          <p:cNvSpPr/>
          <p:nvPr/>
        </p:nvSpPr>
        <p:spPr>
          <a:xfrm>
            <a:off x="4762500" y="2762250"/>
            <a:ext cx="12192000" cy="266700"/>
          </a:xfrm>
        </p:spPr>
        <p:txBody>
          <a:bodyPr wrap="square" rtlCol="0" anchor="t"/>
          <a:lstStyle/>
          <a:p>
            <a:pPr algn="l"/>
            <a:r>
              <a:rPr lang="en-US" sz="1500" b="0" i="0" u="none">
                <a:solidFill>
                  <a:srgbClr val="B0C4D8"/>
                </a:solidFill>
              </a:rPr>
              <a:t>展示文件修改清单与风险评估</a:t>
            </a:r>
          </a:p>
        </p:txBody>
      </p:sp>
      <p:sp>
        <p:nvSpPr>
          <p:cNvPr id="17" name="TextBox"/>
          <p:cNvSpPr/>
          <p:nvPr/>
        </p:nvSpPr>
        <p:spPr>
          <a:xfrm>
            <a:off x="4762500" y="3048000"/>
            <a:ext cx="12192000" cy="266700"/>
          </a:xfrm>
        </p:spPr>
        <p:txBody>
          <a:bodyPr wrap="square" rtlCol="0" anchor="t"/>
          <a:lstStyle/>
          <a:p>
            <a:pPr algn="l"/>
            <a:r>
              <a:rPr lang="en-US" sz="1500" b="0" i="0" u="none">
                <a:solidFill>
                  <a:srgbClr val="B0C4D8"/>
                </a:solidFill>
              </a:rPr>
              <a:t>用户确认后执行</a:t>
            </a:r>
          </a:p>
        </p:txBody>
      </p:sp>
      <p:sp>
        <p:nvSpPr>
          <p:cNvPr id="18" name="TextBox"/>
          <p:cNvSpPr/>
          <p:nvPr/>
        </p:nvSpPr>
        <p:spPr>
          <a:xfrm>
            <a:off x="4762500" y="3333750"/>
            <a:ext cx="12192000" cy="266700"/>
          </a:xfrm>
        </p:spPr>
        <p:txBody>
          <a:bodyPr wrap="square" rtlCol="0" anchor="t"/>
          <a:lstStyle/>
          <a:p>
            <a:pPr algn="l"/>
            <a:r>
              <a:rPr lang="en-US" sz="1500" b="0" i="0" u="none">
                <a:solidFill>
                  <a:srgbClr val="B0C4D8"/>
                </a:solidFill>
              </a:rPr>
              <a:t>安全可控的操作流程</a:t>
            </a:r>
          </a:p>
        </p:txBody>
      </p:sp>
      <p:sp>
        <p:nvSpPr>
          <p:cNvPr id="19" name="Shape"/>
          <p:cNvSpPr/>
          <p:nvPr/>
        </p:nvSpPr>
        <p:spPr>
          <a:xfrm>
            <a:off x="8191500" y="1714500"/>
            <a:ext cx="3238500" cy="1905000"/>
          </a:xfrm>
          <a:prstGeom prst="roundRect">
            <a:avLst>
              <a:gd name="adj" fmla="val 2941"/>
            </a:avLst>
          </a:prstGeom>
          <a:solidFill>
            <a:srgbClr val="64C896">
              <a:alpha val="6000"/>
            </a:srgbClr>
          </a:solidFill>
          <a:ln w="19050">
            <a:solidFill>
              <a:srgbClr val="64C896">
                <a:alpha val="25000"/>
              </a:srgbClr>
            </a:solidFill>
          </a:ln>
        </p:spPr>
      </p:sp>
      <p:sp>
        <p:nvSpPr>
          <p:cNvPr id="20" name="Shape"/>
          <p:cNvSpPr/>
          <p:nvPr/>
        </p:nvSpPr>
        <p:spPr>
          <a:xfrm>
            <a:off x="8191500" y="1714500"/>
            <a:ext cx="3238500" cy="419100"/>
          </a:xfrm>
          <a:prstGeom prst="roundRect">
            <a:avLst>
              <a:gd name="adj" fmla="val 2941"/>
            </a:avLst>
          </a:prstGeom>
          <a:solidFill>
            <a:srgbClr val="64C896">
              <a:alpha val="12000"/>
            </a:srgbClr>
          </a:solidFill>
          <a:ln>
            <a:noFill/>
          </a:ln>
        </p:spPr>
      </p:sp>
      <p:sp>
        <p:nvSpPr>
          <p:cNvPr id="21" name="TextBox"/>
          <p:cNvSpPr/>
          <p:nvPr/>
        </p:nvSpPr>
        <p:spPr>
          <a:xfrm>
            <a:off x="3714750" y="1981200"/>
            <a:ext cx="12192000" cy="355600"/>
          </a:xfrm>
        </p:spPr>
        <p:txBody>
          <a:bodyPr wrap="square" rtlCol="0" anchor="t"/>
          <a:lstStyle/>
          <a:p>
            <a:pPr algn="ctr"/>
            <a:r>
              <a:rPr lang="en-US" sz="2000" b="0" i="0" u="none">
                <a:solidFill>
                  <a:srgbClr val="6CC8A0"/>
                </a:solidFill>
              </a:rPr>
              <a:t>Agent 智能体模式</a:t>
            </a:r>
          </a:p>
        </p:txBody>
      </p:sp>
      <p:sp>
        <p:nvSpPr>
          <p:cNvPr id="22" name="TextBox"/>
          <p:cNvSpPr/>
          <p:nvPr/>
        </p:nvSpPr>
        <p:spPr>
          <a:xfrm>
            <a:off x="8477250" y="2476500"/>
            <a:ext cx="12192000" cy="266700"/>
          </a:xfrm>
        </p:spPr>
        <p:txBody>
          <a:bodyPr wrap="square" rtlCol="0" anchor="t"/>
          <a:lstStyle/>
          <a:p>
            <a:pPr algn="l"/>
            <a:r>
              <a:rPr lang="en-US" sz="1500" b="0" i="0" u="none">
                <a:solidFill>
                  <a:srgbClr val="B0C4D8"/>
                </a:solidFill>
              </a:rPr>
              <a:t>全自动执行，自主调用工具</a:t>
            </a:r>
          </a:p>
        </p:txBody>
      </p:sp>
      <p:sp>
        <p:nvSpPr>
          <p:cNvPr id="23" name="TextBox"/>
          <p:cNvSpPr/>
          <p:nvPr/>
        </p:nvSpPr>
        <p:spPr>
          <a:xfrm>
            <a:off x="8477250" y="2762250"/>
            <a:ext cx="12192000" cy="266700"/>
          </a:xfrm>
        </p:spPr>
        <p:txBody>
          <a:bodyPr wrap="square" rtlCol="0" anchor="t"/>
          <a:lstStyle/>
          <a:p>
            <a:pPr algn="l"/>
            <a:r>
              <a:rPr lang="en-US" sz="1500" b="0" i="0" u="none">
                <a:solidFill>
                  <a:srgbClr val="B0C4D8"/>
                </a:solidFill>
              </a:rPr>
              <a:t>子代理协作系统（多专家协同）</a:t>
            </a:r>
          </a:p>
        </p:txBody>
      </p:sp>
      <p:sp>
        <p:nvSpPr>
          <p:cNvPr id="24" name="TextBox"/>
          <p:cNvSpPr/>
          <p:nvPr/>
        </p:nvSpPr>
        <p:spPr>
          <a:xfrm>
            <a:off x="8477250" y="3048000"/>
            <a:ext cx="12192000" cy="266700"/>
          </a:xfrm>
        </p:spPr>
        <p:txBody>
          <a:bodyPr wrap="square" rtlCol="0" anchor="t"/>
          <a:lstStyle/>
          <a:p>
            <a:pPr algn="l"/>
            <a:r>
              <a:rPr lang="en-US" sz="1500" b="0" i="0" u="none">
                <a:solidFill>
                  <a:srgbClr val="B0C4D8"/>
                </a:solidFill>
              </a:rPr>
              <a:t>文件读写、代码编辑、Office 操作</a:t>
            </a:r>
          </a:p>
        </p:txBody>
      </p:sp>
      <p:sp>
        <p:nvSpPr>
          <p:cNvPr id="25" name="TextBox"/>
          <p:cNvSpPr/>
          <p:nvPr/>
        </p:nvSpPr>
        <p:spPr>
          <a:xfrm>
            <a:off x="8477250" y="3333750"/>
            <a:ext cx="12192000" cy="266700"/>
          </a:xfrm>
        </p:spPr>
        <p:txBody>
          <a:bodyPr wrap="square" rtlCol="0" anchor="t"/>
          <a:lstStyle/>
          <a:p>
            <a:pPr algn="l"/>
            <a:r>
              <a:rPr lang="en-US" sz="1500" b="0" i="0" u="none">
                <a:solidFill>
                  <a:srgbClr val="B0C4D8"/>
                </a:solidFill>
              </a:rPr>
              <a:t>端到端任务自动化</a:t>
            </a:r>
          </a:p>
        </p:txBody>
      </p:sp>
      <p:sp>
        <p:nvSpPr>
          <p:cNvPr id="26" name="TextBox"/>
          <p:cNvSpPr/>
          <p:nvPr/>
        </p:nvSpPr>
        <p:spPr>
          <a:xfrm>
            <a:off x="762000" y="4286250"/>
            <a:ext cx="12192000" cy="391160"/>
          </a:xfrm>
        </p:spPr>
        <p:txBody>
          <a:bodyPr wrap="square" rtlCol="0" anchor="t"/>
          <a:lstStyle/>
          <a:p>
            <a:pPr algn="l"/>
            <a:r>
              <a:rPr lang="en-US" sz="2200" b="0" i="0" u="none">
                <a:solidFill>
                  <a:srgbClr val="FFFFFF"/>
                </a:solidFill>
              </a:rPr>
              <a:t>子代理专家体系</a:t>
            </a:r>
          </a:p>
        </p:txBody>
      </p:sp>
      <p:sp>
        <p:nvSpPr>
          <p:cNvPr id="27" name="Shape"/>
          <p:cNvSpPr/>
          <p:nvPr/>
        </p:nvSpPr>
        <p:spPr>
          <a:xfrm>
            <a:off x="762000" y="4572000"/>
            <a:ext cx="1714500" cy="533400"/>
          </a:xfrm>
          <a:prstGeom prst="roundRect">
            <a:avLst>
              <a:gd name="adj" fmla="val 3333"/>
            </a:avLst>
          </a:prstGeom>
          <a:solidFill>
            <a:srgbClr val="00D2FF">
              <a:alpha val="8000"/>
            </a:srgbClr>
          </a:solidFill>
          <a:ln w="12700">
            <a:solidFill>
              <a:srgbClr val="00D2FF">
                <a:alpha val="15000"/>
              </a:srgbClr>
            </a:solidFill>
          </a:ln>
        </p:spPr>
      </p:sp>
      <p:sp>
        <p:nvSpPr>
          <p:cNvPr id="28" name="TextBox"/>
          <p:cNvSpPr/>
          <p:nvPr/>
        </p:nvSpPr>
        <p:spPr>
          <a:xfrm>
            <a:off x="-4476750" y="4857750"/>
            <a:ext cx="12192000" cy="248920"/>
          </a:xfrm>
        </p:spPr>
        <p:txBody>
          <a:bodyPr wrap="square" rtlCol="0" anchor="t"/>
          <a:lstStyle/>
          <a:p>
            <a:pPr algn="ctr"/>
            <a:r>
              <a:rPr lang="en-US" sz="1400" b="0" i="0" u="none">
                <a:solidFill>
                  <a:srgbClr val="00D2FF"/>
                </a:solidFill>
              </a:rPr>
              <a:t>Word 专家</a:t>
            </a:r>
          </a:p>
        </p:txBody>
      </p:sp>
      <p:sp>
        <p:nvSpPr>
          <p:cNvPr id="29" name="TextBox"/>
          <p:cNvSpPr/>
          <p:nvPr/>
        </p:nvSpPr>
        <p:spPr>
          <a:xfrm>
            <a:off x="-4476750" y="5019675"/>
            <a:ext cx="12192000" cy="195580"/>
          </a:xfrm>
        </p:spPr>
        <p:txBody>
          <a:bodyPr wrap="square" rtlCol="0" anchor="t"/>
          <a:lstStyle/>
          <a:p>
            <a:pPr algn="ctr"/>
            <a:r>
              <a:rPr lang="en-US" sz="1100" b="0" i="0" u="none">
                <a:solidFill>
                  <a:srgbClr val="7090B0"/>
                </a:solidFill>
              </a:rPr>
              <a:t>文档创建/编辑</a:t>
            </a:r>
          </a:p>
        </p:txBody>
      </p:sp>
      <p:sp>
        <p:nvSpPr>
          <p:cNvPr id="30" name="Shape"/>
          <p:cNvSpPr/>
          <p:nvPr/>
        </p:nvSpPr>
        <p:spPr>
          <a:xfrm>
            <a:off x="2667000" y="4572000"/>
            <a:ext cx="1714500" cy="533400"/>
          </a:xfrm>
          <a:prstGeom prst="roundRect">
            <a:avLst>
              <a:gd name="adj" fmla="val 3333"/>
            </a:avLst>
          </a:prstGeom>
          <a:solidFill>
            <a:srgbClr val="3A7BD5">
              <a:alpha val="8000"/>
            </a:srgbClr>
          </a:solidFill>
          <a:ln w="12700">
            <a:solidFill>
              <a:srgbClr val="3A7BD5">
                <a:alpha val="15000"/>
              </a:srgbClr>
            </a:solidFill>
          </a:ln>
        </p:spPr>
      </p:sp>
      <p:sp>
        <p:nvSpPr>
          <p:cNvPr id="31" name="TextBox"/>
          <p:cNvSpPr/>
          <p:nvPr/>
        </p:nvSpPr>
        <p:spPr>
          <a:xfrm>
            <a:off x="-2571750" y="4857750"/>
            <a:ext cx="12192000" cy="248920"/>
          </a:xfrm>
        </p:spPr>
        <p:txBody>
          <a:bodyPr wrap="square" rtlCol="0" anchor="t"/>
          <a:lstStyle/>
          <a:p>
            <a:pPr algn="ctr"/>
            <a:r>
              <a:rPr lang="en-US" sz="1400" b="0" i="0" u="none">
                <a:solidFill>
                  <a:srgbClr val="5A9BE5"/>
                </a:solidFill>
              </a:rPr>
              <a:t>Excel 专家</a:t>
            </a:r>
          </a:p>
        </p:txBody>
      </p:sp>
      <p:sp>
        <p:nvSpPr>
          <p:cNvPr id="32" name="TextBox"/>
          <p:cNvSpPr/>
          <p:nvPr/>
        </p:nvSpPr>
        <p:spPr>
          <a:xfrm>
            <a:off x="-2571750" y="5019675"/>
            <a:ext cx="12192000" cy="195580"/>
          </a:xfrm>
        </p:spPr>
        <p:txBody>
          <a:bodyPr wrap="square" rtlCol="0" anchor="t"/>
          <a:lstStyle/>
          <a:p>
            <a:pPr algn="ctr"/>
            <a:r>
              <a:rPr lang="en-US" sz="1100" b="0" i="0" u="none">
                <a:solidFill>
                  <a:srgbClr val="7090B0"/>
                </a:solidFill>
              </a:rPr>
              <a:t>表格处理/分析</a:t>
            </a:r>
          </a:p>
        </p:txBody>
      </p:sp>
      <p:sp>
        <p:nvSpPr>
          <p:cNvPr id="33" name="Shape"/>
          <p:cNvSpPr/>
          <p:nvPr/>
        </p:nvSpPr>
        <p:spPr>
          <a:xfrm>
            <a:off x="4572000" y="4572000"/>
            <a:ext cx="1714500" cy="533400"/>
          </a:xfrm>
          <a:prstGeom prst="roundRect">
            <a:avLst>
              <a:gd name="adj" fmla="val 3333"/>
            </a:avLst>
          </a:prstGeom>
          <a:solidFill>
            <a:srgbClr val="64C896">
              <a:alpha val="8000"/>
            </a:srgbClr>
          </a:solidFill>
          <a:ln w="12700">
            <a:solidFill>
              <a:srgbClr val="64C896">
                <a:alpha val="15000"/>
              </a:srgbClr>
            </a:solidFill>
          </a:ln>
        </p:spPr>
      </p:sp>
      <p:sp>
        <p:nvSpPr>
          <p:cNvPr id="34" name="TextBox"/>
          <p:cNvSpPr/>
          <p:nvPr/>
        </p:nvSpPr>
        <p:spPr>
          <a:xfrm>
            <a:off x="-666750" y="4857750"/>
            <a:ext cx="12192000" cy="248920"/>
          </a:xfrm>
        </p:spPr>
        <p:txBody>
          <a:bodyPr wrap="square" rtlCol="0" anchor="t"/>
          <a:lstStyle/>
          <a:p>
            <a:pPr algn="ctr"/>
            <a:r>
              <a:rPr lang="en-US" sz="1400" b="0" i="0" u="none">
                <a:solidFill>
                  <a:srgbClr val="6CC8A0"/>
                </a:solidFill>
              </a:rPr>
              <a:t>代码专家</a:t>
            </a:r>
          </a:p>
        </p:txBody>
      </p:sp>
      <p:sp>
        <p:nvSpPr>
          <p:cNvPr id="35" name="TextBox"/>
          <p:cNvSpPr/>
          <p:nvPr/>
        </p:nvSpPr>
        <p:spPr>
          <a:xfrm>
            <a:off x="-666750" y="5019675"/>
            <a:ext cx="12192000" cy="195580"/>
          </a:xfrm>
        </p:spPr>
        <p:txBody>
          <a:bodyPr wrap="square" rtlCol="0" anchor="t"/>
          <a:lstStyle/>
          <a:p>
            <a:pPr algn="ctr"/>
            <a:r>
              <a:rPr lang="en-US" sz="1100" b="0" i="0" u="none">
                <a:solidFill>
                  <a:srgbClr val="7090B0"/>
                </a:solidFill>
              </a:rPr>
              <a:t>代码审查/编写</a:t>
            </a:r>
          </a:p>
        </p:txBody>
      </p:sp>
      <p:sp>
        <p:nvSpPr>
          <p:cNvPr id="36" name="Shape"/>
          <p:cNvSpPr/>
          <p:nvPr/>
        </p:nvSpPr>
        <p:spPr>
          <a:xfrm>
            <a:off x="6477000" y="4572000"/>
            <a:ext cx="1714500" cy="533400"/>
          </a:xfrm>
          <a:prstGeom prst="roundRect">
            <a:avLst>
              <a:gd name="adj" fmla="val 3333"/>
            </a:avLst>
          </a:prstGeom>
          <a:solidFill>
            <a:srgbClr val="C89650">
              <a:alpha val="8000"/>
            </a:srgbClr>
          </a:solidFill>
          <a:ln w="12700">
            <a:solidFill>
              <a:srgbClr val="C89650">
                <a:alpha val="15000"/>
              </a:srgbClr>
            </a:solidFill>
          </a:ln>
        </p:spPr>
      </p:sp>
      <p:sp>
        <p:nvSpPr>
          <p:cNvPr id="37" name="TextBox"/>
          <p:cNvSpPr/>
          <p:nvPr/>
        </p:nvSpPr>
        <p:spPr>
          <a:xfrm>
            <a:off x="1238250" y="4857750"/>
            <a:ext cx="12192000" cy="248920"/>
          </a:xfrm>
        </p:spPr>
        <p:txBody>
          <a:bodyPr wrap="square" rtlCol="0" anchor="t"/>
          <a:lstStyle/>
          <a:p>
            <a:pPr algn="ctr"/>
            <a:r>
              <a:rPr lang="en-US" sz="1400" b="0" i="0" u="none">
                <a:solidFill>
                  <a:srgbClr val="C8A050"/>
                </a:solidFill>
              </a:rPr>
              <a:t>Markdown 专家</a:t>
            </a:r>
          </a:p>
        </p:txBody>
      </p:sp>
      <p:sp>
        <p:nvSpPr>
          <p:cNvPr id="38" name="TextBox"/>
          <p:cNvSpPr/>
          <p:nvPr/>
        </p:nvSpPr>
        <p:spPr>
          <a:xfrm>
            <a:off x="1238250" y="5019675"/>
            <a:ext cx="12192000" cy="195580"/>
          </a:xfrm>
        </p:spPr>
        <p:txBody>
          <a:bodyPr wrap="square" rtlCol="0" anchor="t"/>
          <a:lstStyle/>
          <a:p>
            <a:pPr algn="ctr"/>
            <a:r>
              <a:rPr lang="en-US" sz="1100" b="0" i="0" u="none">
                <a:solidFill>
                  <a:srgbClr val="7090B0"/>
                </a:solidFill>
              </a:rPr>
              <a:t>长文撰写/排版</a:t>
            </a:r>
          </a:p>
        </p:txBody>
      </p:sp>
      <p:sp>
        <p:nvSpPr>
          <p:cNvPr id="39" name="Shape"/>
          <p:cNvSpPr/>
          <p:nvPr/>
        </p:nvSpPr>
        <p:spPr>
          <a:xfrm>
            <a:off x="8382000" y="4572000"/>
            <a:ext cx="1714500" cy="533400"/>
          </a:xfrm>
          <a:prstGeom prst="roundRect">
            <a:avLst>
              <a:gd name="adj" fmla="val 3333"/>
            </a:avLst>
          </a:prstGeom>
          <a:solidFill>
            <a:srgbClr val="C86478">
              <a:alpha val="8000"/>
            </a:srgbClr>
          </a:solidFill>
          <a:ln w="12700">
            <a:solidFill>
              <a:srgbClr val="C86478">
                <a:alpha val="15000"/>
              </a:srgbClr>
            </a:solidFill>
          </a:ln>
        </p:spPr>
      </p:sp>
      <p:sp>
        <p:nvSpPr>
          <p:cNvPr id="40" name="TextBox"/>
          <p:cNvSpPr/>
          <p:nvPr/>
        </p:nvSpPr>
        <p:spPr>
          <a:xfrm>
            <a:off x="3143250" y="4857750"/>
            <a:ext cx="12192000" cy="248920"/>
          </a:xfrm>
        </p:spPr>
        <p:txBody>
          <a:bodyPr wrap="square" rtlCol="0" anchor="t"/>
          <a:lstStyle/>
          <a:p>
            <a:pPr algn="ctr"/>
            <a:r>
              <a:rPr lang="en-US" sz="1400" b="0" i="0" u="none">
                <a:solidFill>
                  <a:srgbClr val="C86478"/>
                </a:solidFill>
              </a:rPr>
              <a:t>流程图专家</a:t>
            </a:r>
          </a:p>
        </p:txBody>
      </p:sp>
      <p:sp>
        <p:nvSpPr>
          <p:cNvPr id="41" name="TextBox"/>
          <p:cNvSpPr/>
          <p:nvPr/>
        </p:nvSpPr>
        <p:spPr>
          <a:xfrm>
            <a:off x="3143250" y="5019675"/>
            <a:ext cx="12192000" cy="195580"/>
          </a:xfrm>
        </p:spPr>
        <p:txBody>
          <a:bodyPr wrap="square" rtlCol="0" anchor="t"/>
          <a:lstStyle/>
          <a:p>
            <a:pPr algn="ctr"/>
            <a:r>
              <a:rPr lang="en-US" sz="1100" b="0" i="0" u="none">
                <a:solidFill>
                  <a:srgbClr val="7090B0"/>
                </a:solidFill>
              </a:rPr>
              <a:t>图表渲染</a:t>
            </a:r>
          </a:p>
        </p:txBody>
      </p:sp>
      <p:sp>
        <p:nvSpPr>
          <p:cNvPr id="42" name="Shape"/>
          <p:cNvSpPr/>
          <p:nvPr/>
        </p:nvSpPr>
        <p:spPr>
          <a:xfrm>
            <a:off x="762000" y="5334000"/>
            <a:ext cx="1714500" cy="533400"/>
          </a:xfrm>
          <a:prstGeom prst="roundRect">
            <a:avLst>
              <a:gd name="adj" fmla="val 3333"/>
            </a:avLst>
          </a:prstGeom>
          <a:solidFill>
            <a:srgbClr val="9664C8">
              <a:alpha val="8000"/>
            </a:srgbClr>
          </a:solidFill>
          <a:ln w="12700">
            <a:solidFill>
              <a:srgbClr val="9664C8">
                <a:alpha val="15000"/>
              </a:srgbClr>
            </a:solidFill>
          </a:ln>
        </p:spPr>
      </p:sp>
      <p:sp>
        <p:nvSpPr>
          <p:cNvPr id="43" name="TextBox"/>
          <p:cNvSpPr/>
          <p:nvPr/>
        </p:nvSpPr>
        <p:spPr>
          <a:xfrm>
            <a:off x="-4476750" y="5619750"/>
            <a:ext cx="12192000" cy="248920"/>
          </a:xfrm>
        </p:spPr>
        <p:txBody>
          <a:bodyPr wrap="square" rtlCol="0" anchor="t"/>
          <a:lstStyle/>
          <a:p>
            <a:pPr algn="ctr"/>
            <a:r>
              <a:rPr lang="en-US" sz="1400" b="0" i="0" u="none">
                <a:solidFill>
                  <a:srgbClr val="9664C8"/>
                </a:solidFill>
              </a:rPr>
              <a:t>批量编辑专家</a:t>
            </a:r>
          </a:p>
        </p:txBody>
      </p:sp>
      <p:sp>
        <p:nvSpPr>
          <p:cNvPr id="44" name="TextBox"/>
          <p:cNvSpPr/>
          <p:nvPr/>
        </p:nvSpPr>
        <p:spPr>
          <a:xfrm>
            <a:off x="-4476750" y="5781675"/>
            <a:ext cx="12192000" cy="195580"/>
          </a:xfrm>
        </p:spPr>
        <p:txBody>
          <a:bodyPr wrap="square" rtlCol="0" anchor="t"/>
          <a:lstStyle/>
          <a:p>
            <a:pPr algn="ctr"/>
            <a:r>
              <a:rPr lang="en-US" sz="1100" b="0" i="0" u="none">
                <a:solidFill>
                  <a:srgbClr val="7090B0"/>
                </a:solidFill>
              </a:rPr>
              <a:t>批量文件操作</a:t>
            </a:r>
          </a:p>
        </p:txBody>
      </p:sp>
      <p:sp>
        <p:nvSpPr>
          <p:cNvPr id="45" name="Shape"/>
          <p:cNvSpPr/>
          <p:nvPr/>
        </p:nvSpPr>
        <p:spPr>
          <a:xfrm>
            <a:off x="2667000" y="5334000"/>
            <a:ext cx="1714500" cy="533400"/>
          </a:xfrm>
          <a:prstGeom prst="roundRect">
            <a:avLst>
              <a:gd name="adj" fmla="val 3333"/>
            </a:avLst>
          </a:prstGeom>
          <a:solidFill>
            <a:srgbClr val="B48250">
              <a:alpha val="8000"/>
            </a:srgbClr>
          </a:solidFill>
          <a:ln w="12700">
            <a:solidFill>
              <a:srgbClr val="B48250">
                <a:alpha val="15000"/>
              </a:srgbClr>
            </a:solidFill>
          </a:ln>
        </p:spPr>
      </p:sp>
      <p:sp>
        <p:nvSpPr>
          <p:cNvPr id="46" name="TextBox"/>
          <p:cNvSpPr/>
          <p:nvPr/>
        </p:nvSpPr>
        <p:spPr>
          <a:xfrm>
            <a:off x="-2571750" y="5619750"/>
            <a:ext cx="12192000" cy="248920"/>
          </a:xfrm>
        </p:spPr>
        <p:txBody>
          <a:bodyPr wrap="square" rtlCol="0" anchor="t"/>
          <a:lstStyle/>
          <a:p>
            <a:pPr algn="ctr"/>
            <a:r>
              <a:rPr lang="en-US" sz="1400" b="0" i="0" u="none">
                <a:solidFill>
                  <a:srgbClr val="B48250"/>
                </a:solidFill>
              </a:rPr>
              <a:t>研究专家</a:t>
            </a:r>
          </a:p>
        </p:txBody>
      </p:sp>
      <p:sp>
        <p:nvSpPr>
          <p:cNvPr id="47" name="TextBox"/>
          <p:cNvSpPr/>
          <p:nvPr/>
        </p:nvSpPr>
        <p:spPr>
          <a:xfrm>
            <a:off x="-2571750" y="5781675"/>
            <a:ext cx="12192000" cy="195580"/>
          </a:xfrm>
        </p:spPr>
        <p:txBody>
          <a:bodyPr wrap="square" rtlCol="0" anchor="t"/>
          <a:lstStyle/>
          <a:p>
            <a:pPr algn="ctr"/>
            <a:r>
              <a:rPr lang="en-US" sz="1100" b="0" i="0" u="none">
                <a:solidFill>
                  <a:srgbClr val="7090B0"/>
                </a:solidFill>
              </a:rPr>
              <a:t>搜索与信息整理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0F23">
              <a:alpha val="100000"/>
            </a:srgbClr>
          </a:solidFill>
          <a:ln>
            <a:noFill/>
          </a:ln>
        </p:spPr>
      </p:sp>
      <p:sp>
        <p:nvSpPr>
          <p:cNvPr id="3" name="TextBox"/>
          <p:cNvSpPr/>
          <p:nvPr/>
        </p:nvSpPr>
        <p:spPr>
          <a:xfrm>
            <a:off x="762000" y="1047750"/>
            <a:ext cx="12192000" cy="640080"/>
          </a:xfrm>
        </p:spPr>
        <p:txBody>
          <a:bodyPr wrap="square" rtlCol="0" anchor="t"/>
          <a:lstStyle/>
          <a:p>
            <a:pPr algn="l"/>
            <a:r>
              <a:rPr lang="en-US" sz="3600" b="0" i="0" u="none">
                <a:solidFill>
                  <a:srgbClr val="FFFFFF"/>
                </a:solidFill>
              </a:rPr>
              <a:t>多格式编辑器</a:t>
            </a:r>
          </a:p>
        </p:txBody>
      </p:sp>
      <p:cxnSp>
        <p:nvCxnSpPr>
          <p:cNvPr id="4" name="Line"/>
          <p:cNvCxnSpPr/>
          <p:nvPr/>
        </p:nvCxnSpPr>
        <p:spPr>
          <a:xfrm>
            <a:off x="762000" y="1190625"/>
            <a:ext cx="4000500" cy="0"/>
          </a:xfrm>
          <a:prstGeom prst="line">
            <a:avLst/>
          </a:prstGeom>
          <a:ln w="12700">
            <a:solidFill>
              <a:srgbClr val="FFFFFF"/>
            </a:solidFill>
          </a:ln>
        </p:spPr>
      </p:cxnSp>
      <p:sp>
        <p:nvSpPr>
          <p:cNvPr id="5" name="Shape"/>
          <p:cNvSpPr/>
          <p:nvPr/>
        </p:nvSpPr>
        <p:spPr>
          <a:xfrm>
            <a:off x="762000" y="1619250"/>
            <a:ext cx="3333750" cy="1333500"/>
          </a:xfrm>
          <a:prstGeom prst="roundRect">
            <a:avLst>
              <a:gd name="adj" fmla="val 2857"/>
            </a:avLst>
          </a:prstGeom>
          <a:solidFill>
            <a:srgbClr val="00D2FF">
              <a:alpha val="6000"/>
            </a:srgbClr>
          </a:solidFill>
          <a:ln w="12700">
            <a:solidFill>
              <a:srgbClr val="00D2FF">
                <a:alpha val="20000"/>
              </a:srgbClr>
            </a:solidFill>
          </a:ln>
        </p:spPr>
      </p:sp>
      <p:sp>
        <p:nvSpPr>
          <p:cNvPr id="6" name="TextBox"/>
          <p:cNvSpPr/>
          <p:nvPr/>
        </p:nvSpPr>
        <p:spPr>
          <a:xfrm>
            <a:off x="1047750" y="2000250"/>
            <a:ext cx="12192000" cy="320040"/>
          </a:xfrm>
        </p:spPr>
        <p:txBody>
          <a:bodyPr wrap="square" rtlCol="0" anchor="t"/>
          <a:lstStyle/>
          <a:p>
            <a:pPr algn="l"/>
            <a:r>
              <a:rPr lang="en-US" sz="1800" b="0" i="0" u="none">
                <a:solidFill>
                  <a:srgbClr val="00D2FF"/>
                </a:solidFill>
              </a:rPr>
              <a:t>Markdown</a:t>
            </a:r>
          </a:p>
        </p:txBody>
      </p:sp>
      <p:sp>
        <p:nvSpPr>
          <p:cNvPr id="7" name="TextBox"/>
          <p:cNvSpPr/>
          <p:nvPr/>
        </p:nvSpPr>
        <p:spPr>
          <a:xfrm>
            <a:off x="1047750" y="2238375"/>
            <a:ext cx="12192000" cy="248920"/>
          </a:xfrm>
        </p:spPr>
        <p:txBody>
          <a:bodyPr wrap="square" rtlCol="0" anchor="t"/>
          <a:lstStyle/>
          <a:p>
            <a:pPr algn="l"/>
            <a:r>
              <a:rPr lang="en-US" sz="1400" b="0" i="0" u="none">
                <a:solidFill>
                  <a:srgbClr val="B0C4D8"/>
                </a:solidFill>
              </a:rPr>
              <a:t>所见即所得的 Markdown 编辑</a:t>
            </a:r>
          </a:p>
        </p:txBody>
      </p:sp>
      <p:sp>
        <p:nvSpPr>
          <p:cNvPr id="8" name="TextBox"/>
          <p:cNvSpPr/>
          <p:nvPr/>
        </p:nvSpPr>
        <p:spPr>
          <a:xfrm>
            <a:off x="1047750" y="2457450"/>
            <a:ext cx="12192000" cy="248920"/>
          </a:xfrm>
        </p:spPr>
        <p:txBody>
          <a:bodyPr wrap="square" rtlCol="0" anchor="t"/>
          <a:lstStyle/>
          <a:p>
            <a:pPr algn="l"/>
            <a:r>
              <a:rPr lang="en-US" sz="1400" b="0" i="0" u="none">
                <a:solidFill>
                  <a:srgbClr val="B0C4D8"/>
                </a:solidFill>
              </a:rPr>
              <a:t>实时预览 · 扩展语法（GFM）</a:t>
            </a:r>
          </a:p>
        </p:txBody>
      </p:sp>
      <p:sp>
        <p:nvSpPr>
          <p:cNvPr id="9" name="TextBox"/>
          <p:cNvSpPr/>
          <p:nvPr/>
        </p:nvSpPr>
        <p:spPr>
          <a:xfrm>
            <a:off x="1047750" y="2676525"/>
            <a:ext cx="12192000" cy="248920"/>
          </a:xfrm>
        </p:spPr>
        <p:txBody>
          <a:bodyPr wrap="square" rtlCol="0" anchor="t"/>
          <a:lstStyle/>
          <a:p>
            <a:pPr algn="l"/>
            <a:r>
              <a:rPr lang="en-US" sz="1400" b="0" i="0" u="none">
                <a:solidFill>
                  <a:srgbClr val="B0C4D8"/>
                </a:solidFill>
              </a:rPr>
              <a:t>代码高亮 · 数学公式</a:t>
            </a:r>
          </a:p>
        </p:txBody>
      </p:sp>
      <p:sp>
        <p:nvSpPr>
          <p:cNvPr id="10" name="Shape"/>
          <p:cNvSpPr/>
          <p:nvPr/>
        </p:nvSpPr>
        <p:spPr>
          <a:xfrm>
            <a:off x="4429125" y="1619250"/>
            <a:ext cx="3333750" cy="1333500"/>
          </a:xfrm>
          <a:prstGeom prst="roundRect">
            <a:avLst>
              <a:gd name="adj" fmla="val 2857"/>
            </a:avLst>
          </a:prstGeom>
          <a:solidFill>
            <a:srgbClr val="3A7BD5">
              <a:alpha val="6000"/>
            </a:srgbClr>
          </a:solidFill>
          <a:ln w="12700">
            <a:solidFill>
              <a:srgbClr val="3A7BD5">
                <a:alpha val="20000"/>
              </a:srgbClr>
            </a:solidFill>
          </a:ln>
        </p:spPr>
      </p:sp>
      <p:sp>
        <p:nvSpPr>
          <p:cNvPr id="11" name="TextBox"/>
          <p:cNvSpPr/>
          <p:nvPr/>
        </p:nvSpPr>
        <p:spPr>
          <a:xfrm>
            <a:off x="4714875" y="2000250"/>
            <a:ext cx="12192000" cy="320040"/>
          </a:xfrm>
        </p:spPr>
        <p:txBody>
          <a:bodyPr wrap="square" rtlCol="0" anchor="t"/>
          <a:lstStyle/>
          <a:p>
            <a:pPr algn="l"/>
            <a:r>
              <a:rPr lang="en-US" sz="1800" b="0" i="0" u="none">
                <a:solidFill>
                  <a:srgbClr val="5A9BE5"/>
                </a:solidFill>
              </a:rPr>
              <a:t>Word 文档</a:t>
            </a:r>
          </a:p>
        </p:txBody>
      </p:sp>
      <p:sp>
        <p:nvSpPr>
          <p:cNvPr id="12" name="TextBox"/>
          <p:cNvSpPr/>
          <p:nvPr/>
        </p:nvSpPr>
        <p:spPr>
          <a:xfrm>
            <a:off x="4714875" y="2238375"/>
            <a:ext cx="12192000" cy="248920"/>
          </a:xfrm>
        </p:spPr>
        <p:txBody>
          <a:bodyPr wrap="square" rtlCol="0" anchor="t"/>
          <a:lstStyle/>
          <a:p>
            <a:pPr algn="l"/>
            <a:r>
              <a:rPr lang="en-US" sz="1400" b="0" i="0" u="none">
                <a:solidFill>
                  <a:srgbClr val="B0C4D8"/>
                </a:solidFill>
              </a:rPr>
              <a:t>基于 ProseMirror 的富文本编辑</a:t>
            </a:r>
          </a:p>
        </p:txBody>
      </p:sp>
      <p:sp>
        <p:nvSpPr>
          <p:cNvPr id="13" name="TextBox"/>
          <p:cNvSpPr/>
          <p:nvPr/>
        </p:nvSpPr>
        <p:spPr>
          <a:xfrm>
            <a:off x="4714875" y="2457450"/>
            <a:ext cx="12192000" cy="248920"/>
          </a:xfrm>
        </p:spPr>
        <p:txBody>
          <a:bodyPr wrap="square" rtlCol="0" anchor="t"/>
          <a:lstStyle/>
          <a:p>
            <a:pPr algn="l"/>
            <a:r>
              <a:rPr lang="en-US" sz="1400" b="0" i="0" u="none">
                <a:solidFill>
                  <a:srgbClr val="B0C4D8"/>
                </a:solidFill>
              </a:rPr>
              <a:t>完整样式支持 · 段落/表格</a:t>
            </a:r>
          </a:p>
        </p:txBody>
      </p:sp>
      <p:sp>
        <p:nvSpPr>
          <p:cNvPr id="14" name="TextBox"/>
          <p:cNvSpPr/>
          <p:nvPr/>
        </p:nvSpPr>
        <p:spPr>
          <a:xfrm>
            <a:off x="4714875" y="2676525"/>
            <a:ext cx="12192000" cy="248920"/>
          </a:xfrm>
        </p:spPr>
        <p:txBody>
          <a:bodyPr wrap="square" rtlCol="0" anchor="t"/>
          <a:lstStyle/>
          <a:p>
            <a:pPr algn="l"/>
            <a:r>
              <a:rPr lang="en-US" sz="1400" b="0" i="0" u="none">
                <a:solidFill>
                  <a:srgbClr val="B0C4D8"/>
                </a:solidFill>
              </a:rPr>
              <a:t>页眉页脚 · 多节布局</a:t>
            </a:r>
          </a:p>
        </p:txBody>
      </p:sp>
      <p:sp>
        <p:nvSpPr>
          <p:cNvPr id="15" name="Shape"/>
          <p:cNvSpPr/>
          <p:nvPr/>
        </p:nvSpPr>
        <p:spPr>
          <a:xfrm>
            <a:off x="8096250" y="1619250"/>
            <a:ext cx="3333750" cy="1333500"/>
          </a:xfrm>
          <a:prstGeom prst="roundRect">
            <a:avLst>
              <a:gd name="adj" fmla="val 2857"/>
            </a:avLst>
          </a:prstGeom>
          <a:solidFill>
            <a:srgbClr val="64C896">
              <a:alpha val="6000"/>
            </a:srgbClr>
          </a:solidFill>
          <a:ln w="12700">
            <a:solidFill>
              <a:srgbClr val="64C896">
                <a:alpha val="20000"/>
              </a:srgbClr>
            </a:solidFill>
          </a:ln>
        </p:spPr>
      </p:sp>
      <p:sp>
        <p:nvSpPr>
          <p:cNvPr id="16" name="TextBox"/>
          <p:cNvSpPr/>
          <p:nvPr/>
        </p:nvSpPr>
        <p:spPr>
          <a:xfrm>
            <a:off x="8382000" y="2000250"/>
            <a:ext cx="12192000" cy="320040"/>
          </a:xfrm>
        </p:spPr>
        <p:txBody>
          <a:bodyPr wrap="square" rtlCol="0" anchor="t"/>
          <a:lstStyle/>
          <a:p>
            <a:pPr algn="l"/>
            <a:r>
              <a:rPr lang="en-US" sz="1800" b="0" i="0" u="none">
                <a:solidFill>
                  <a:srgbClr val="6CC8A0"/>
                </a:solidFill>
              </a:rPr>
              <a:t>Excel 电子表格</a:t>
            </a:r>
          </a:p>
        </p:txBody>
      </p:sp>
      <p:sp>
        <p:nvSpPr>
          <p:cNvPr id="17" name="TextBox"/>
          <p:cNvSpPr/>
          <p:nvPr/>
        </p:nvSpPr>
        <p:spPr>
          <a:xfrm>
            <a:off x="8382000" y="2238375"/>
            <a:ext cx="12192000" cy="248920"/>
          </a:xfrm>
        </p:spPr>
        <p:txBody>
          <a:bodyPr wrap="square" rtlCol="0" anchor="t"/>
          <a:lstStyle/>
          <a:p>
            <a:pPr algn="l"/>
            <a:r>
              <a:rPr lang="en-US" sz="1400" b="0" i="0" u="none">
                <a:solidFill>
                  <a:srgbClr val="B0C4D8"/>
                </a:solidFill>
              </a:rPr>
              <a:t>基于 FortuneSheet 的表格引擎</a:t>
            </a:r>
          </a:p>
        </p:txBody>
      </p:sp>
      <p:sp>
        <p:nvSpPr>
          <p:cNvPr id="18" name="TextBox"/>
          <p:cNvSpPr/>
          <p:nvPr/>
        </p:nvSpPr>
        <p:spPr>
          <a:xfrm>
            <a:off x="8382000" y="2457450"/>
            <a:ext cx="12192000" cy="248920"/>
          </a:xfrm>
        </p:spPr>
        <p:txBody>
          <a:bodyPr wrap="square" rtlCol="0" anchor="t"/>
          <a:lstStyle/>
          <a:p>
            <a:pPr algn="l"/>
            <a:r>
              <a:rPr lang="en-US" sz="1400" b="0" i="0" u="none">
                <a:solidFill>
                  <a:srgbClr val="B0C4D8"/>
                </a:solidFill>
              </a:rPr>
              <a:t>公式支持 · 数据操作</a:t>
            </a:r>
          </a:p>
        </p:txBody>
      </p:sp>
      <p:sp>
        <p:nvSpPr>
          <p:cNvPr id="19" name="TextBox"/>
          <p:cNvSpPr/>
          <p:nvPr/>
        </p:nvSpPr>
        <p:spPr>
          <a:xfrm>
            <a:off x="8382000" y="2676525"/>
            <a:ext cx="12192000" cy="248920"/>
          </a:xfrm>
        </p:spPr>
        <p:txBody>
          <a:bodyPr wrap="square" rtlCol="0" anchor="t"/>
          <a:lstStyle/>
          <a:p>
            <a:pPr algn="l"/>
            <a:r>
              <a:rPr lang="en-US" sz="1400" b="0" i="0" u="none">
                <a:solidFill>
                  <a:srgbClr val="B0C4D8"/>
                </a:solidFill>
              </a:rPr>
              <a:t>合并单元格 · 样式设置</a:t>
            </a:r>
          </a:p>
        </p:txBody>
      </p:sp>
      <p:sp>
        <p:nvSpPr>
          <p:cNvPr id="20" name="Shape"/>
          <p:cNvSpPr/>
          <p:nvPr/>
        </p:nvSpPr>
        <p:spPr>
          <a:xfrm>
            <a:off x="762000" y="3238500"/>
            <a:ext cx="3333750" cy="1333500"/>
          </a:xfrm>
          <a:prstGeom prst="roundRect">
            <a:avLst>
              <a:gd name="adj" fmla="val 2857"/>
            </a:avLst>
          </a:prstGeom>
          <a:solidFill>
            <a:srgbClr val="C89650">
              <a:alpha val="6000"/>
            </a:srgbClr>
          </a:solidFill>
          <a:ln w="12700">
            <a:solidFill>
              <a:srgbClr val="C89650">
                <a:alpha val="20000"/>
              </a:srgbClr>
            </a:solidFill>
          </a:ln>
        </p:spPr>
      </p:sp>
      <p:sp>
        <p:nvSpPr>
          <p:cNvPr id="21" name="TextBox"/>
          <p:cNvSpPr/>
          <p:nvPr/>
        </p:nvSpPr>
        <p:spPr>
          <a:xfrm>
            <a:off x="1047750" y="3619500"/>
            <a:ext cx="12192000" cy="320040"/>
          </a:xfrm>
        </p:spPr>
        <p:txBody>
          <a:bodyPr wrap="square" rtlCol="0" anchor="t"/>
          <a:lstStyle/>
          <a:p>
            <a:pPr algn="l"/>
            <a:r>
              <a:rPr lang="en-US" sz="1800" b="0" i="0" u="none">
                <a:solidFill>
                  <a:srgbClr val="C8A050"/>
                </a:solidFill>
              </a:rPr>
              <a:t>代码编辑器</a:t>
            </a:r>
          </a:p>
        </p:txBody>
      </p:sp>
      <p:sp>
        <p:nvSpPr>
          <p:cNvPr id="22" name="TextBox"/>
          <p:cNvSpPr/>
          <p:nvPr/>
        </p:nvSpPr>
        <p:spPr>
          <a:xfrm>
            <a:off x="1047750" y="3857625"/>
            <a:ext cx="12192000" cy="248920"/>
          </a:xfrm>
        </p:spPr>
        <p:txBody>
          <a:bodyPr wrap="square" rtlCol="0" anchor="t"/>
          <a:lstStyle/>
          <a:p>
            <a:pPr algn="l"/>
            <a:r>
              <a:rPr lang="en-US" sz="1400" b="0" i="0" u="none">
                <a:solidFill>
                  <a:srgbClr val="B0C4D8"/>
                </a:solidFill>
              </a:rPr>
              <a:t>基于 CodeMirror</a:t>
            </a:r>
          </a:p>
        </p:txBody>
      </p:sp>
      <p:sp>
        <p:nvSpPr>
          <p:cNvPr id="23" name="TextBox"/>
          <p:cNvSpPr/>
          <p:nvPr/>
        </p:nvSpPr>
        <p:spPr>
          <a:xfrm>
            <a:off x="1047750" y="4076700"/>
            <a:ext cx="12192000" cy="248920"/>
          </a:xfrm>
        </p:spPr>
        <p:txBody>
          <a:bodyPr wrap="square" rtlCol="0" anchor="t"/>
          <a:lstStyle/>
          <a:p>
            <a:pPr algn="l"/>
            <a:r>
              <a:rPr lang="en-US" sz="1400" b="0" i="0" u="none">
                <a:solidFill>
                  <a:srgbClr val="B0C4D8"/>
                </a:solidFill>
              </a:rPr>
              <a:t>20+ 编程语言语法高亮</a:t>
            </a:r>
          </a:p>
        </p:txBody>
      </p:sp>
      <p:sp>
        <p:nvSpPr>
          <p:cNvPr id="24" name="TextBox"/>
          <p:cNvSpPr/>
          <p:nvPr/>
        </p:nvSpPr>
        <p:spPr>
          <a:xfrm>
            <a:off x="1047750" y="4295775"/>
            <a:ext cx="12192000" cy="248920"/>
          </a:xfrm>
        </p:spPr>
        <p:txBody>
          <a:bodyPr wrap="square" rtlCol="0" anchor="t"/>
          <a:lstStyle/>
          <a:p>
            <a:pPr algn="l"/>
            <a:r>
              <a:rPr lang="en-US" sz="1400" b="0" i="0" u="none">
                <a:solidFill>
                  <a:srgbClr val="B0C4D8"/>
                </a:solidFill>
              </a:rPr>
              <a:t>代码补全 · 搜索替换</a:t>
            </a:r>
          </a:p>
        </p:txBody>
      </p:sp>
      <p:sp>
        <p:nvSpPr>
          <p:cNvPr id="25" name="Shape"/>
          <p:cNvSpPr/>
          <p:nvPr/>
        </p:nvSpPr>
        <p:spPr>
          <a:xfrm>
            <a:off x="4429125" y="3238500"/>
            <a:ext cx="3333750" cy="1333500"/>
          </a:xfrm>
          <a:prstGeom prst="roundRect">
            <a:avLst>
              <a:gd name="adj" fmla="val 2857"/>
            </a:avLst>
          </a:prstGeom>
          <a:solidFill>
            <a:srgbClr val="9664C8">
              <a:alpha val="6000"/>
            </a:srgbClr>
          </a:solidFill>
          <a:ln w="12700">
            <a:solidFill>
              <a:srgbClr val="9664C8">
                <a:alpha val="20000"/>
              </a:srgbClr>
            </a:solidFill>
          </a:ln>
        </p:spPr>
      </p:sp>
      <p:sp>
        <p:nvSpPr>
          <p:cNvPr id="26" name="TextBox"/>
          <p:cNvSpPr/>
          <p:nvPr/>
        </p:nvSpPr>
        <p:spPr>
          <a:xfrm>
            <a:off x="4714875" y="3619500"/>
            <a:ext cx="12192000" cy="320040"/>
          </a:xfrm>
        </p:spPr>
        <p:txBody>
          <a:bodyPr wrap="square" rtlCol="0" anchor="t"/>
          <a:lstStyle/>
          <a:p>
            <a:pPr algn="l"/>
            <a:r>
              <a:rPr lang="en-US" sz="1800" b="0" i="0" u="none">
                <a:solidFill>
                  <a:srgbClr val="9664C8"/>
                </a:solidFill>
              </a:rPr>
              <a:t>PDF 阅读器</a:t>
            </a:r>
          </a:p>
        </p:txBody>
      </p:sp>
      <p:sp>
        <p:nvSpPr>
          <p:cNvPr id="27" name="TextBox"/>
          <p:cNvSpPr/>
          <p:nvPr/>
        </p:nvSpPr>
        <p:spPr>
          <a:xfrm>
            <a:off x="4714875" y="3857625"/>
            <a:ext cx="12192000" cy="248920"/>
          </a:xfrm>
        </p:spPr>
        <p:txBody>
          <a:bodyPr wrap="square" rtlCol="0" anchor="t"/>
          <a:lstStyle/>
          <a:p>
            <a:pPr algn="l"/>
            <a:r>
              <a:rPr lang="en-US" sz="1400" b="0" i="0" u="none">
                <a:solidFill>
                  <a:srgbClr val="B0C4D8"/>
                </a:solidFill>
              </a:rPr>
              <a:t>内嵌 pdf.js 引擎</a:t>
            </a:r>
          </a:p>
        </p:txBody>
      </p:sp>
      <p:sp>
        <p:nvSpPr>
          <p:cNvPr id="28" name="TextBox"/>
          <p:cNvSpPr/>
          <p:nvPr/>
        </p:nvSpPr>
        <p:spPr>
          <a:xfrm>
            <a:off x="4714875" y="4076700"/>
            <a:ext cx="12192000" cy="248920"/>
          </a:xfrm>
        </p:spPr>
        <p:txBody>
          <a:bodyPr wrap="square" rtlCol="0" anchor="t"/>
          <a:lstStyle/>
          <a:p>
            <a:pPr algn="l"/>
            <a:r>
              <a:rPr lang="en-US" sz="1400" b="0" i="0" u="none">
                <a:solidFill>
                  <a:srgbClr val="B0C4D8"/>
                </a:solidFill>
              </a:rPr>
              <a:t>流畅翻页 · 文本选择</a:t>
            </a:r>
          </a:p>
        </p:txBody>
      </p:sp>
      <p:sp>
        <p:nvSpPr>
          <p:cNvPr id="29" name="TextBox"/>
          <p:cNvSpPr/>
          <p:nvPr/>
        </p:nvSpPr>
        <p:spPr>
          <a:xfrm>
            <a:off x="4714875" y="4295775"/>
            <a:ext cx="12192000" cy="248920"/>
          </a:xfrm>
        </p:spPr>
        <p:txBody>
          <a:bodyPr wrap="square" rtlCol="0" anchor="t"/>
          <a:lstStyle/>
          <a:p>
            <a:pPr algn="l"/>
            <a:r>
              <a:rPr lang="en-US" sz="1400" b="0" i="0" u="none">
                <a:solidFill>
                  <a:srgbClr val="B0C4D8"/>
                </a:solidFill>
              </a:rPr>
              <a:t>支持大文件分页加载</a:t>
            </a:r>
          </a:p>
        </p:txBody>
      </p:sp>
      <p:sp>
        <p:nvSpPr>
          <p:cNvPr id="30" name="Shape"/>
          <p:cNvSpPr/>
          <p:nvPr/>
        </p:nvSpPr>
        <p:spPr>
          <a:xfrm>
            <a:off x="8096250" y="3238500"/>
            <a:ext cx="3333750" cy="1333500"/>
          </a:xfrm>
          <a:prstGeom prst="roundRect">
            <a:avLst>
              <a:gd name="adj" fmla="val 2857"/>
            </a:avLst>
          </a:prstGeom>
          <a:solidFill>
            <a:srgbClr val="C85078">
              <a:alpha val="6000"/>
            </a:srgbClr>
          </a:solidFill>
          <a:ln w="12700">
            <a:solidFill>
              <a:srgbClr val="C85078">
                <a:alpha val="20000"/>
              </a:srgbClr>
            </a:solidFill>
          </a:ln>
        </p:spPr>
      </p:sp>
      <p:sp>
        <p:nvSpPr>
          <p:cNvPr id="31" name="TextBox"/>
          <p:cNvSpPr/>
          <p:nvPr/>
        </p:nvSpPr>
        <p:spPr>
          <a:xfrm>
            <a:off x="8382000" y="3619500"/>
            <a:ext cx="12192000" cy="320040"/>
          </a:xfrm>
        </p:spPr>
        <p:txBody>
          <a:bodyPr wrap="square" rtlCol="0" anchor="t"/>
          <a:lstStyle/>
          <a:p>
            <a:pPr algn="l"/>
            <a:r>
              <a:rPr lang="en-US" sz="1800" b="0" i="0" u="none">
                <a:solidFill>
                  <a:srgbClr val="C85078"/>
                </a:solidFill>
              </a:rPr>
              <a:t>SVG 图形编辑器</a:t>
            </a:r>
          </a:p>
        </p:txBody>
      </p:sp>
      <p:sp>
        <p:nvSpPr>
          <p:cNvPr id="32" name="TextBox"/>
          <p:cNvSpPr/>
          <p:nvPr/>
        </p:nvSpPr>
        <p:spPr>
          <a:xfrm>
            <a:off x="8382000" y="3857625"/>
            <a:ext cx="12192000" cy="248920"/>
          </a:xfrm>
        </p:spPr>
        <p:txBody>
          <a:bodyPr wrap="square" rtlCol="0" anchor="t"/>
          <a:lstStyle/>
          <a:p>
            <a:pPr algn="l"/>
            <a:r>
              <a:rPr lang="en-US" sz="1400" b="0" i="0" u="none">
                <a:solidFill>
                  <a:srgbClr val="B0C4D8"/>
                </a:solidFill>
              </a:rPr>
              <a:t>原生 SVG 编辑能力</a:t>
            </a:r>
          </a:p>
        </p:txBody>
      </p:sp>
      <p:sp>
        <p:nvSpPr>
          <p:cNvPr id="33" name="TextBox"/>
          <p:cNvSpPr/>
          <p:nvPr/>
        </p:nvSpPr>
        <p:spPr>
          <a:xfrm>
            <a:off x="8382000" y="4076700"/>
            <a:ext cx="12192000" cy="248920"/>
          </a:xfrm>
        </p:spPr>
        <p:txBody>
          <a:bodyPr wrap="square" rtlCol="0" anchor="t"/>
          <a:lstStyle/>
          <a:p>
            <a:pPr algn="l"/>
            <a:r>
              <a:rPr lang="en-US" sz="1400" b="0" i="0" u="none">
                <a:solidFill>
                  <a:srgbClr val="B0C4D8"/>
                </a:solidFill>
              </a:rPr>
              <a:t>矢量图形 · 缩放不失真</a:t>
            </a:r>
          </a:p>
        </p:txBody>
      </p:sp>
      <p:sp>
        <p:nvSpPr>
          <p:cNvPr id="34" name="TextBox"/>
          <p:cNvSpPr/>
          <p:nvPr/>
        </p:nvSpPr>
        <p:spPr>
          <a:xfrm>
            <a:off x="8382000" y="4295775"/>
            <a:ext cx="12192000" cy="248920"/>
          </a:xfrm>
        </p:spPr>
        <p:txBody>
          <a:bodyPr wrap="square" rtlCol="0" anchor="t"/>
          <a:lstStyle/>
          <a:p>
            <a:pPr algn="l"/>
            <a:r>
              <a:rPr lang="en-US" sz="1400" b="0" i="0" u="none">
                <a:solidFill>
                  <a:srgbClr val="B0C4D8"/>
                </a:solidFill>
              </a:rPr>
              <a:t>可导出为标准 SVG</a:t>
            </a:r>
          </a:p>
        </p:txBody>
      </p:sp>
      <p:sp>
        <p:nvSpPr>
          <p:cNvPr id="35" name="Shape"/>
          <p:cNvSpPr/>
          <p:nvPr/>
        </p:nvSpPr>
        <p:spPr>
          <a:xfrm>
            <a:off x="762000" y="5048250"/>
            <a:ext cx="10668000" cy="476250"/>
          </a:xfrm>
          <a:prstGeom prst="roundRect">
            <a:avLst>
              <a:gd name="adj" fmla="val 714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8000"/>
              </a:srgbClr>
            </a:solidFill>
          </a:ln>
        </p:spPr>
      </p:sp>
      <p:sp>
        <p:nvSpPr>
          <p:cNvPr id="36" name="TextBox"/>
          <p:cNvSpPr/>
          <p:nvPr/>
        </p:nvSpPr>
        <p:spPr>
          <a:xfrm>
            <a:off x="0" y="5334000"/>
            <a:ext cx="12192000" cy="266700"/>
          </a:xfrm>
        </p:spPr>
        <p:txBody>
          <a:bodyPr wrap="square" rtlCol="0" anchor="t"/>
          <a:lstStyle/>
          <a:p>
            <a:pPr algn="ctr"/>
            <a:r>
              <a:rPr lang="en-US" sz="1500" b="0" i="0" u="none">
                <a:solidFill>
                  <a:srgbClr val="7090B0"/>
                </a:solidFill>
              </a:rPr>
              <a:t>统一的标签页管理 · 拖拽排序 · 智能文件类型识别 · 自动保存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0F23">
              <a:alpha val="100000"/>
            </a:srgbClr>
          </a:solidFill>
          <a:ln>
            <a:noFill/>
          </a:ln>
        </p:spPr>
      </p:sp>
      <p:sp>
        <p:nvSpPr>
          <p:cNvPr id="3" name="TextBox"/>
          <p:cNvSpPr/>
          <p:nvPr/>
        </p:nvSpPr>
        <p:spPr>
          <a:xfrm>
            <a:off x="762000" y="1047750"/>
            <a:ext cx="12192000" cy="640080"/>
          </a:xfrm>
        </p:spPr>
        <p:txBody>
          <a:bodyPr wrap="square" rtlCol="0" anchor="t"/>
          <a:lstStyle/>
          <a:p>
            <a:pPr algn="l"/>
            <a:r>
              <a:rPr lang="en-US" sz="3600" b="0" i="0" u="none">
                <a:solidFill>
                  <a:srgbClr val="FFFFFF"/>
                </a:solidFill>
              </a:rPr>
              <a:t>智能特性</a:t>
            </a:r>
          </a:p>
        </p:txBody>
      </p:sp>
      <p:cxnSp>
        <p:nvCxnSpPr>
          <p:cNvPr id="4" name="Line"/>
          <p:cNvCxnSpPr/>
          <p:nvPr/>
        </p:nvCxnSpPr>
        <p:spPr>
          <a:xfrm>
            <a:off x="762000" y="1190625"/>
            <a:ext cx="3048000" cy="0"/>
          </a:xfrm>
          <a:prstGeom prst="line">
            <a:avLst/>
          </a:prstGeom>
          <a:ln w="12700">
            <a:solidFill>
              <a:srgbClr val="FFFFFF"/>
            </a:solidFill>
          </a:ln>
        </p:spPr>
      </p:cxnSp>
      <p:sp>
        <p:nvSpPr>
          <p:cNvPr id="5" name="Shape"/>
          <p:cNvSpPr/>
          <p:nvPr/>
        </p:nvSpPr>
        <p:spPr>
          <a:xfrm>
            <a:off x="762000" y="1619250"/>
            <a:ext cx="5143500" cy="2286000"/>
          </a:xfrm>
          <a:prstGeom prst="roundRect">
            <a:avLst>
              <a:gd name="adj" fmla="val 2222"/>
            </a:avLst>
          </a:prstGeom>
          <a:solidFill>
            <a:srgbClr val="00D2FF">
              <a:alpha val="4000"/>
            </a:srgbClr>
          </a:solidFill>
          <a:ln w="19050">
            <a:solidFill>
              <a:srgbClr val="00D2FF">
                <a:alpha val="20000"/>
              </a:srgbClr>
            </a:solidFill>
          </a:ln>
        </p:spPr>
      </p:sp>
      <p:sp>
        <p:nvSpPr>
          <p:cNvPr id="6" name="Shape"/>
          <p:cNvSpPr/>
          <p:nvPr/>
        </p:nvSpPr>
        <p:spPr>
          <a:xfrm>
            <a:off x="762000" y="1619250"/>
            <a:ext cx="5143500" cy="419100"/>
          </a:xfrm>
          <a:prstGeom prst="roundRect">
            <a:avLst>
              <a:gd name="adj" fmla="val 2222"/>
            </a:avLst>
          </a:prstGeom>
          <a:solidFill>
            <a:srgbClr val="00D2FF">
              <a:alpha val="8000"/>
            </a:srgbClr>
          </a:solidFill>
          <a:ln>
            <a:noFill/>
          </a:ln>
        </p:spPr>
      </p:sp>
      <p:sp>
        <p:nvSpPr>
          <p:cNvPr id="7" name="TextBox"/>
          <p:cNvSpPr/>
          <p:nvPr/>
        </p:nvSpPr>
        <p:spPr>
          <a:xfrm>
            <a:off x="1047750" y="1885950"/>
            <a:ext cx="12192000" cy="355600"/>
          </a:xfrm>
        </p:spPr>
        <p:txBody>
          <a:bodyPr wrap="square" rtlCol="0" anchor="t"/>
          <a:lstStyle/>
          <a:p>
            <a:pPr algn="l"/>
            <a:r>
              <a:rPr lang="en-US" sz="2000" b="0" i="0" u="none">
                <a:solidFill>
                  <a:srgbClr val="00D2FF"/>
                </a:solidFill>
              </a:rPr>
              <a:t>智能差异对比</a:t>
            </a:r>
          </a:p>
        </p:txBody>
      </p:sp>
      <p:sp>
        <p:nvSpPr>
          <p:cNvPr id="8" name="TextBox"/>
          <p:cNvSpPr/>
          <p:nvPr/>
        </p:nvSpPr>
        <p:spPr>
          <a:xfrm>
            <a:off x="1047750" y="2381250"/>
            <a:ext cx="12192000" cy="266700"/>
          </a:xfrm>
        </p:spPr>
        <p:txBody>
          <a:bodyPr wrap="square" rtlCol="0" anchor="t"/>
          <a:lstStyle/>
          <a:p>
            <a:pPr algn="l"/>
            <a:r>
              <a:rPr lang="en-US" sz="1500" b="0" i="0" u="none">
                <a:solidFill>
                  <a:srgbClr val="C0D0E8"/>
                </a:solidFill>
              </a:rPr>
              <a:t>AI 修改建议以行级差异对比呈现</a:t>
            </a:r>
          </a:p>
        </p:txBody>
      </p:sp>
      <p:sp>
        <p:nvSpPr>
          <p:cNvPr id="9" name="TextBox"/>
          <p:cNvSpPr/>
          <p:nvPr/>
        </p:nvSpPr>
        <p:spPr>
          <a:xfrm>
            <a:off x="1047750" y="2667000"/>
            <a:ext cx="12192000" cy="266700"/>
          </a:xfrm>
        </p:spPr>
        <p:txBody>
          <a:bodyPr wrap="square" rtlCol="0" anchor="t"/>
          <a:lstStyle/>
          <a:p>
            <a:pPr algn="l"/>
            <a:r>
              <a:rPr lang="en-US" sz="1500" b="0" i="0" u="none">
                <a:solidFill>
                  <a:srgbClr val="C0D0E8"/>
                </a:solidFill>
              </a:rPr>
              <a:t>逐行高亮显示增加/删除/修改</a:t>
            </a:r>
          </a:p>
        </p:txBody>
      </p:sp>
      <p:sp>
        <p:nvSpPr>
          <p:cNvPr id="10" name="TextBox"/>
          <p:cNvSpPr/>
          <p:nvPr/>
        </p:nvSpPr>
        <p:spPr>
          <a:xfrm>
            <a:off x="1047750" y="2952750"/>
            <a:ext cx="12192000" cy="266700"/>
          </a:xfrm>
        </p:spPr>
        <p:txBody>
          <a:bodyPr wrap="square" rtlCol="0" anchor="t"/>
          <a:lstStyle/>
          <a:p>
            <a:pPr algn="l"/>
            <a:r>
              <a:rPr lang="en-US" sz="1500" b="0" i="0" u="none">
                <a:solidFill>
                  <a:srgbClr val="C0D0E8"/>
                </a:solidFill>
              </a:rPr>
              <a:t>用户可逐条审阅、接受或拒绝</a:t>
            </a:r>
          </a:p>
        </p:txBody>
      </p:sp>
      <p:sp>
        <p:nvSpPr>
          <p:cNvPr id="11" name="TextBox"/>
          <p:cNvSpPr/>
          <p:nvPr/>
        </p:nvSpPr>
        <p:spPr>
          <a:xfrm>
            <a:off x="1047750" y="3238500"/>
            <a:ext cx="12192000" cy="266700"/>
          </a:xfrm>
        </p:spPr>
        <p:txBody>
          <a:bodyPr wrap="square" rtlCol="0" anchor="t"/>
          <a:lstStyle/>
          <a:p>
            <a:pPr algn="l"/>
            <a:r>
              <a:rPr lang="en-US" sz="1500" b="0" i="0" u="none">
                <a:solidFill>
                  <a:srgbClr val="C0D0E8"/>
                </a:solidFill>
              </a:rPr>
              <a:t>完全掌控编辑过程，安全透明</a:t>
            </a:r>
          </a:p>
        </p:txBody>
      </p:sp>
      <p:sp>
        <p:nvSpPr>
          <p:cNvPr id="12" name="TextBox"/>
          <p:cNvSpPr/>
          <p:nvPr/>
        </p:nvSpPr>
        <p:spPr>
          <a:xfrm>
            <a:off x="1047750" y="3571875"/>
            <a:ext cx="12192000" cy="231140"/>
          </a:xfrm>
        </p:spPr>
        <p:txBody>
          <a:bodyPr wrap="square" rtlCol="0" anchor="t"/>
          <a:lstStyle/>
          <a:p>
            <a:pPr algn="l"/>
            <a:r>
              <a:rPr lang="en-US" sz="1300" b="0" i="0" u="none">
                <a:solidFill>
                  <a:srgbClr val="6090B0"/>
                </a:solidFill>
              </a:rPr>
              <a:t>支持 Markdown、Word、代码等多种格式的差异对比</a:t>
            </a:r>
          </a:p>
        </p:txBody>
      </p:sp>
      <p:sp>
        <p:nvSpPr>
          <p:cNvPr id="13" name="Shape"/>
          <p:cNvSpPr/>
          <p:nvPr/>
        </p:nvSpPr>
        <p:spPr>
          <a:xfrm>
            <a:off x="6286500" y="1619250"/>
            <a:ext cx="5143500" cy="2286000"/>
          </a:xfrm>
          <a:prstGeom prst="roundRect">
            <a:avLst>
              <a:gd name="adj" fmla="val 2222"/>
            </a:avLst>
          </a:prstGeom>
          <a:solidFill>
            <a:srgbClr val="64C896">
              <a:alpha val="4000"/>
            </a:srgbClr>
          </a:solidFill>
          <a:ln w="19050">
            <a:solidFill>
              <a:srgbClr val="64C896">
                <a:alpha val="20000"/>
              </a:srgbClr>
            </a:solidFill>
          </a:ln>
        </p:spPr>
      </p:sp>
      <p:sp>
        <p:nvSpPr>
          <p:cNvPr id="14" name="Shape"/>
          <p:cNvSpPr/>
          <p:nvPr/>
        </p:nvSpPr>
        <p:spPr>
          <a:xfrm>
            <a:off x="6286500" y="1619250"/>
            <a:ext cx="5143500" cy="419100"/>
          </a:xfrm>
          <a:prstGeom prst="roundRect">
            <a:avLst>
              <a:gd name="adj" fmla="val 2222"/>
            </a:avLst>
          </a:prstGeom>
          <a:solidFill>
            <a:srgbClr val="64C896">
              <a:alpha val="8000"/>
            </a:srgbClr>
          </a:solidFill>
          <a:ln>
            <a:noFill/>
          </a:ln>
        </p:spPr>
      </p:sp>
      <p:sp>
        <p:nvSpPr>
          <p:cNvPr id="15" name="TextBox"/>
          <p:cNvSpPr/>
          <p:nvPr/>
        </p:nvSpPr>
        <p:spPr>
          <a:xfrm>
            <a:off x="6572250" y="1885950"/>
            <a:ext cx="12192000" cy="355600"/>
          </a:xfrm>
        </p:spPr>
        <p:txBody>
          <a:bodyPr wrap="square" rtlCol="0" anchor="t"/>
          <a:lstStyle/>
          <a:p>
            <a:pPr algn="l"/>
            <a:r>
              <a:rPr lang="en-US" sz="2000" b="0" i="0" u="none">
                <a:solidFill>
                  <a:srgbClr val="6CC8A0"/>
                </a:solidFill>
              </a:rPr>
              <a:t>知识库系统</a:t>
            </a:r>
          </a:p>
        </p:txBody>
      </p:sp>
      <p:sp>
        <p:nvSpPr>
          <p:cNvPr id="16" name="TextBox"/>
          <p:cNvSpPr/>
          <p:nvPr/>
        </p:nvSpPr>
        <p:spPr>
          <a:xfrm>
            <a:off x="6572250" y="2381250"/>
            <a:ext cx="12192000" cy="266700"/>
          </a:xfrm>
        </p:spPr>
        <p:txBody>
          <a:bodyPr wrap="square" rtlCol="0" anchor="t"/>
          <a:lstStyle/>
          <a:p>
            <a:pPr algn="l"/>
            <a:r>
              <a:rPr lang="en-US" sz="1500" b="0" i="0" u="none">
                <a:solidFill>
                  <a:srgbClr val="C0D0E8"/>
                </a:solidFill>
              </a:rPr>
              <a:t>工作区语义知识库构建</a:t>
            </a:r>
          </a:p>
        </p:txBody>
      </p:sp>
      <p:sp>
        <p:nvSpPr>
          <p:cNvPr id="17" name="TextBox"/>
          <p:cNvSpPr/>
          <p:nvPr/>
        </p:nvSpPr>
        <p:spPr>
          <a:xfrm>
            <a:off x="6572250" y="2667000"/>
            <a:ext cx="12192000" cy="266700"/>
          </a:xfrm>
        </p:spPr>
        <p:txBody>
          <a:bodyPr wrap="square" rtlCol="0" anchor="t"/>
          <a:lstStyle/>
          <a:p>
            <a:pPr algn="l"/>
            <a:r>
              <a:rPr lang="en-US" sz="1500" b="0" i="0" u="none">
                <a:solidFill>
                  <a:srgbClr val="C0D0E8"/>
                </a:solidFill>
              </a:rPr>
              <a:t>自动文档索引与向量化</a:t>
            </a:r>
          </a:p>
        </p:txBody>
      </p:sp>
      <p:sp>
        <p:nvSpPr>
          <p:cNvPr id="18" name="TextBox"/>
          <p:cNvSpPr/>
          <p:nvPr/>
        </p:nvSpPr>
        <p:spPr>
          <a:xfrm>
            <a:off x="6572250" y="2952750"/>
            <a:ext cx="12192000" cy="266700"/>
          </a:xfrm>
        </p:spPr>
        <p:txBody>
          <a:bodyPr wrap="square" rtlCol="0" anchor="t"/>
          <a:lstStyle/>
          <a:p>
            <a:pPr algn="l"/>
            <a:r>
              <a:rPr lang="en-US" sz="1500" b="0" i="0" u="none">
                <a:solidFill>
                  <a:srgbClr val="C0D0E8"/>
                </a:solidFill>
              </a:rPr>
              <a:t>智能语义检索（相似度搜索）</a:t>
            </a:r>
          </a:p>
        </p:txBody>
      </p:sp>
      <p:sp>
        <p:nvSpPr>
          <p:cNvPr id="19" name="TextBox"/>
          <p:cNvSpPr/>
          <p:nvPr/>
        </p:nvSpPr>
        <p:spPr>
          <a:xfrm>
            <a:off x="6572250" y="3238500"/>
            <a:ext cx="12192000" cy="266700"/>
          </a:xfrm>
        </p:spPr>
        <p:txBody>
          <a:bodyPr wrap="square" rtlCol="0" anchor="t"/>
          <a:lstStyle/>
          <a:p>
            <a:pPr algn="l"/>
            <a:r>
              <a:rPr lang="en-US" sz="1500" b="0" i="0" u="none">
                <a:solidFill>
                  <a:srgbClr val="C0D0E8"/>
                </a:solidFill>
              </a:rPr>
              <a:t>上下文感知的 AI 问答</a:t>
            </a:r>
          </a:p>
        </p:txBody>
      </p:sp>
      <p:sp>
        <p:nvSpPr>
          <p:cNvPr id="20" name="TextBox"/>
          <p:cNvSpPr/>
          <p:nvPr/>
        </p:nvSpPr>
        <p:spPr>
          <a:xfrm>
            <a:off x="6572250" y="3571875"/>
            <a:ext cx="12192000" cy="231140"/>
          </a:xfrm>
        </p:spPr>
        <p:txBody>
          <a:bodyPr wrap="square" rtlCol="0" anchor="t"/>
          <a:lstStyle/>
          <a:p>
            <a:pPr algn="l"/>
            <a:r>
              <a:rPr lang="en-US" sz="1300" b="0" i="0" u="none">
                <a:solidFill>
                  <a:srgbClr val="6090B0"/>
                </a:solidFill>
              </a:rPr>
              <a:t>支持多种嵌入模型：bge-small/large-zh</a:t>
            </a:r>
          </a:p>
        </p:txBody>
      </p:sp>
      <p:sp>
        <p:nvSpPr>
          <p:cNvPr id="21" name="Shape"/>
          <p:cNvSpPr/>
          <p:nvPr/>
        </p:nvSpPr>
        <p:spPr>
          <a:xfrm>
            <a:off x="762000" y="4286250"/>
            <a:ext cx="10668000" cy="1428750"/>
          </a:xfrm>
          <a:prstGeom prst="roundRect">
            <a:avLst>
              <a:gd name="adj" fmla="val 1071"/>
            </a:avLst>
          </a:prstGeom>
          <a:solidFill>
            <a:srgbClr val="3A7BD5">
              <a:alpha val="4000"/>
            </a:srgbClr>
          </a:solidFill>
          <a:ln w="19050">
            <a:solidFill>
              <a:srgbClr val="3A7BD5">
                <a:alpha val="20000"/>
              </a:srgbClr>
            </a:solidFill>
          </a:ln>
        </p:spPr>
      </p:sp>
      <p:sp>
        <p:nvSpPr>
          <p:cNvPr id="22" name="Shape"/>
          <p:cNvSpPr/>
          <p:nvPr/>
        </p:nvSpPr>
        <p:spPr>
          <a:xfrm>
            <a:off x="762000" y="4286250"/>
            <a:ext cx="10668000" cy="419100"/>
          </a:xfrm>
          <a:prstGeom prst="roundRect">
            <a:avLst>
              <a:gd name="adj" fmla="val 1071"/>
            </a:avLst>
          </a:prstGeom>
          <a:solidFill>
            <a:srgbClr val="3A7BD5">
              <a:alpha val="8000"/>
            </a:srgbClr>
          </a:solidFill>
          <a:ln>
            <a:noFill/>
          </a:ln>
        </p:spPr>
      </p:sp>
      <p:sp>
        <p:nvSpPr>
          <p:cNvPr id="23" name="TextBox"/>
          <p:cNvSpPr/>
          <p:nvPr/>
        </p:nvSpPr>
        <p:spPr>
          <a:xfrm>
            <a:off x="1047750" y="4552950"/>
            <a:ext cx="12192000" cy="355600"/>
          </a:xfrm>
        </p:spPr>
        <p:txBody>
          <a:bodyPr wrap="square" rtlCol="0" anchor="t"/>
          <a:lstStyle/>
          <a:p>
            <a:pPr algn="l"/>
            <a:r>
              <a:rPr lang="en-US" sz="2000" b="0" i="0" u="none">
                <a:solidFill>
                  <a:srgbClr val="5A9BE5"/>
                </a:solidFill>
              </a:rPr>
              <a:t>云服务与模型支持</a:t>
            </a:r>
          </a:p>
        </p:txBody>
      </p:sp>
      <p:sp>
        <p:nvSpPr>
          <p:cNvPr id="24" name="TextBox"/>
          <p:cNvSpPr/>
          <p:nvPr/>
        </p:nvSpPr>
        <p:spPr>
          <a:xfrm>
            <a:off x="1047750" y="4953000"/>
            <a:ext cx="12192000" cy="266700"/>
          </a:xfrm>
        </p:spPr>
        <p:txBody>
          <a:bodyPr wrap="square" rtlCol="0" anchor="t"/>
          <a:lstStyle/>
          <a:p>
            <a:pPr algn="l"/>
            <a:r>
              <a:rPr lang="en-US" sz="1500" b="0" i="0" u="none">
                <a:solidFill>
                  <a:srgbClr val="C0D0E8"/>
                </a:solidFill>
              </a:rPr>
              <a:t>inkuo Cloud 集成 · 多模型提供商切换（OpenAI / DeepSeek / Ollama 等）</a:t>
            </a:r>
          </a:p>
        </p:txBody>
      </p:sp>
      <p:sp>
        <p:nvSpPr>
          <p:cNvPr id="25" name="TextBox"/>
          <p:cNvSpPr/>
          <p:nvPr/>
        </p:nvSpPr>
        <p:spPr>
          <a:xfrm>
            <a:off x="1047750" y="5238750"/>
            <a:ext cx="12192000" cy="266700"/>
          </a:xfrm>
        </p:spPr>
        <p:txBody>
          <a:bodyPr wrap="square" rtlCol="0" anchor="t"/>
          <a:lstStyle/>
          <a:p>
            <a:pPr algn="l"/>
            <a:r>
              <a:rPr lang="en-US" sz="1500" b="0" i="0" u="none">
                <a:solidFill>
                  <a:srgbClr val="C0D0E8"/>
                </a:solidFill>
              </a:rPr>
              <a:t>可配置的 API 设置 · 温度/最大 Token 参数 · 灵活的模型路由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0F23">
              <a:alpha val="100000"/>
            </a:srgbClr>
          </a:solidFill>
          <a:ln>
            <a:noFill/>
          </a:ln>
        </p:spPr>
      </p:sp>
      <p:sp>
        <p:nvSpPr>
          <p:cNvPr id="3" name="TextBox"/>
          <p:cNvSpPr/>
          <p:nvPr/>
        </p:nvSpPr>
        <p:spPr>
          <a:xfrm>
            <a:off x="762000" y="1047750"/>
            <a:ext cx="12192000" cy="640080"/>
          </a:xfrm>
        </p:spPr>
        <p:txBody>
          <a:bodyPr wrap="square" rtlCol="0" anchor="t"/>
          <a:lstStyle/>
          <a:p>
            <a:pPr algn="l"/>
            <a:r>
              <a:rPr lang="en-US" sz="3600" b="0" i="0" u="none">
                <a:solidFill>
                  <a:srgbClr val="FFFFFF"/>
                </a:solidFill>
              </a:rPr>
              <a:t>技术架构</a:t>
            </a:r>
          </a:p>
        </p:txBody>
      </p:sp>
      <p:cxnSp>
        <p:nvCxnSpPr>
          <p:cNvPr id="4" name="Line"/>
          <p:cNvCxnSpPr/>
          <p:nvPr/>
        </p:nvCxnSpPr>
        <p:spPr>
          <a:xfrm>
            <a:off x="762000" y="1190625"/>
            <a:ext cx="3048000" cy="0"/>
          </a:xfrm>
          <a:prstGeom prst="line">
            <a:avLst/>
          </a:prstGeom>
          <a:ln w="12700">
            <a:solidFill>
              <a:srgbClr val="FFFFFF"/>
            </a:solidFill>
          </a:ln>
        </p:spPr>
      </p:cxnSp>
      <p:sp>
        <p:nvSpPr>
          <p:cNvPr id="5" name="Shape"/>
          <p:cNvSpPr/>
          <p:nvPr/>
        </p:nvSpPr>
        <p:spPr>
          <a:xfrm>
            <a:off x="762000" y="1619250"/>
            <a:ext cx="10668000" cy="666750"/>
          </a:xfrm>
          <a:prstGeom prst="roundRect">
            <a:avLst>
              <a:gd name="adj" fmla="val 714"/>
            </a:avLst>
          </a:prstGeom>
          <a:solidFill>
            <a:srgbClr val="00D2FF">
              <a:alpha val="8000"/>
            </a:srgbClr>
          </a:solidFill>
          <a:ln w="19050">
            <a:solidFill>
              <a:srgbClr val="00D2FF">
                <a:alpha val="25000"/>
              </a:srgbClr>
            </a:solidFill>
          </a:ln>
        </p:spPr>
      </p:sp>
      <p:sp>
        <p:nvSpPr>
          <p:cNvPr id="6" name="TextBox"/>
          <p:cNvSpPr/>
          <p:nvPr/>
        </p:nvSpPr>
        <p:spPr>
          <a:xfrm>
            <a:off x="1047750" y="2000250"/>
            <a:ext cx="12192000" cy="284480"/>
          </a:xfrm>
        </p:spPr>
        <p:txBody>
          <a:bodyPr wrap="square" rtlCol="0" anchor="t"/>
          <a:lstStyle/>
          <a:p>
            <a:pPr algn="l"/>
            <a:r>
              <a:rPr lang="en-US" sz="1600" b="0" i="0" u="none">
                <a:solidFill>
                  <a:srgbClr val="00D2FF"/>
                </a:solidFill>
              </a:rPr>
              <a:t>桌面外壳</a:t>
            </a:r>
          </a:p>
        </p:txBody>
      </p:sp>
      <p:sp>
        <p:nvSpPr>
          <p:cNvPr id="7" name="TextBox"/>
          <p:cNvSpPr/>
          <p:nvPr/>
        </p:nvSpPr>
        <p:spPr>
          <a:xfrm>
            <a:off x="3048000" y="2000250"/>
            <a:ext cx="12192000" cy="248920"/>
          </a:xfrm>
        </p:spPr>
        <p:txBody>
          <a:bodyPr wrap="square" rtlCol="0" anchor="t"/>
          <a:lstStyle/>
          <a:p>
            <a:pPr algn="l"/>
            <a:r>
              <a:rPr lang="en-US" sz="1400" b="0" i="0" u="none">
                <a:solidFill>
                  <a:srgbClr val="B0C4D8"/>
                </a:solidFill>
              </a:rPr>
              <a:t>Tauri 2（Rust 后端）</a:t>
            </a:r>
          </a:p>
        </p:txBody>
      </p:sp>
      <p:sp>
        <p:nvSpPr>
          <p:cNvPr id="8" name="TextBox"/>
          <p:cNvSpPr/>
          <p:nvPr/>
        </p:nvSpPr>
        <p:spPr>
          <a:xfrm>
            <a:off x="5524500" y="2000250"/>
            <a:ext cx="12192000" cy="248920"/>
          </a:xfrm>
        </p:spPr>
        <p:txBody>
          <a:bodyPr wrap="square" rtlCol="0" anchor="t"/>
          <a:lstStyle/>
          <a:p>
            <a:pPr algn="l"/>
            <a:r>
              <a:rPr lang="en-US" sz="1400" b="0" i="0" u="none">
                <a:solidFill>
                  <a:srgbClr val="B0C4D8"/>
                </a:solidFill>
              </a:rPr>
              <a:t>WebView2 渲染引擎</a:t>
            </a:r>
          </a:p>
        </p:txBody>
      </p:sp>
      <p:sp>
        <p:nvSpPr>
          <p:cNvPr id="9" name="TextBox"/>
          <p:cNvSpPr/>
          <p:nvPr/>
        </p:nvSpPr>
        <p:spPr>
          <a:xfrm>
            <a:off x="8001000" y="2000250"/>
            <a:ext cx="12192000" cy="248920"/>
          </a:xfrm>
        </p:spPr>
        <p:txBody>
          <a:bodyPr wrap="square" rtlCol="0" anchor="t"/>
          <a:lstStyle/>
          <a:p>
            <a:pPr algn="l"/>
            <a:r>
              <a:rPr lang="en-US" sz="1400" b="0" i="0" u="none">
                <a:solidFill>
                  <a:srgbClr val="B0C4D8"/>
                </a:solidFill>
              </a:rPr>
              <a:t>原生文件系统 · 系统对话框 · 多窗口</a:t>
            </a:r>
          </a:p>
        </p:txBody>
      </p:sp>
      <p:sp>
        <p:nvSpPr>
          <p:cNvPr id="10" name="TextBox"/>
          <p:cNvSpPr/>
          <p:nvPr/>
        </p:nvSpPr>
        <p:spPr>
          <a:xfrm>
            <a:off x="0" y="2495550"/>
            <a:ext cx="12192000" cy="355600"/>
          </a:xfrm>
        </p:spPr>
        <p:txBody>
          <a:bodyPr wrap="square" rtlCol="0" anchor="t"/>
          <a:lstStyle/>
          <a:p>
            <a:pPr algn="ctr"/>
            <a:r>
              <a:rPr lang="en-US" sz="2000" b="0" i="0" u="none">
                <a:solidFill>
                  <a:srgbClr val="404060"/>
                </a:solidFill>
              </a:rPr>
              <a:t>▼</a:t>
            </a:r>
          </a:p>
        </p:txBody>
      </p:sp>
      <p:sp>
        <p:nvSpPr>
          <p:cNvPr id="11" name="Shape"/>
          <p:cNvSpPr/>
          <p:nvPr/>
        </p:nvSpPr>
        <p:spPr>
          <a:xfrm>
            <a:off x="762000" y="2619375"/>
            <a:ext cx="10668000" cy="666750"/>
          </a:xfrm>
          <a:prstGeom prst="roundRect">
            <a:avLst>
              <a:gd name="adj" fmla="val 714"/>
            </a:avLst>
          </a:prstGeom>
          <a:solidFill>
            <a:srgbClr val="3A7BD5">
              <a:alpha val="8000"/>
            </a:srgbClr>
          </a:solidFill>
          <a:ln w="19050">
            <a:solidFill>
              <a:srgbClr val="3A7BD5">
                <a:alpha val="25000"/>
              </a:srgbClr>
            </a:solidFill>
          </a:ln>
        </p:spPr>
      </p:sp>
      <p:sp>
        <p:nvSpPr>
          <p:cNvPr id="12" name="TextBox"/>
          <p:cNvSpPr/>
          <p:nvPr/>
        </p:nvSpPr>
        <p:spPr>
          <a:xfrm>
            <a:off x="1047750" y="3000375"/>
            <a:ext cx="12192000" cy="284480"/>
          </a:xfrm>
        </p:spPr>
        <p:txBody>
          <a:bodyPr wrap="square" rtlCol="0" anchor="t"/>
          <a:lstStyle/>
          <a:p>
            <a:pPr algn="l"/>
            <a:r>
              <a:rPr lang="en-US" sz="1600" b="0" i="0" u="none">
                <a:solidFill>
                  <a:srgbClr val="5A9BE5"/>
                </a:solidFill>
              </a:rPr>
              <a:t>前端框架</a:t>
            </a:r>
          </a:p>
        </p:txBody>
      </p:sp>
      <p:sp>
        <p:nvSpPr>
          <p:cNvPr id="13" name="TextBox"/>
          <p:cNvSpPr/>
          <p:nvPr/>
        </p:nvSpPr>
        <p:spPr>
          <a:xfrm>
            <a:off x="3048000" y="3000375"/>
            <a:ext cx="12192000" cy="248920"/>
          </a:xfrm>
        </p:spPr>
        <p:txBody>
          <a:bodyPr wrap="square" rtlCol="0" anchor="t"/>
          <a:lstStyle/>
          <a:p>
            <a:pPr algn="l"/>
            <a:r>
              <a:rPr lang="en-US" sz="1400" b="0" i="0" u="none">
                <a:solidFill>
                  <a:srgbClr val="B0C4D8"/>
                </a:solidFill>
              </a:rPr>
              <a:t>React 19 + TypeScript</a:t>
            </a:r>
          </a:p>
        </p:txBody>
      </p:sp>
      <p:sp>
        <p:nvSpPr>
          <p:cNvPr id="14" name="TextBox"/>
          <p:cNvSpPr/>
          <p:nvPr/>
        </p:nvSpPr>
        <p:spPr>
          <a:xfrm>
            <a:off x="5524500" y="3000375"/>
            <a:ext cx="12192000" cy="248920"/>
          </a:xfrm>
        </p:spPr>
        <p:txBody>
          <a:bodyPr wrap="square" rtlCol="0" anchor="t"/>
          <a:lstStyle/>
          <a:p>
            <a:pPr algn="l"/>
            <a:r>
              <a:rPr lang="en-US" sz="1400" b="0" i="0" u="none">
                <a:solidFill>
                  <a:srgbClr val="B0C4D8"/>
                </a:solidFill>
              </a:rPr>
              <a:t>Vite 7 构建</a:t>
            </a:r>
          </a:p>
        </p:txBody>
      </p:sp>
      <p:sp>
        <p:nvSpPr>
          <p:cNvPr id="15" name="TextBox"/>
          <p:cNvSpPr/>
          <p:nvPr/>
        </p:nvSpPr>
        <p:spPr>
          <a:xfrm>
            <a:off x="8001000" y="3000375"/>
            <a:ext cx="12192000" cy="248920"/>
          </a:xfrm>
        </p:spPr>
        <p:txBody>
          <a:bodyPr wrap="square" rtlCol="0" anchor="t"/>
          <a:lstStyle/>
          <a:p>
            <a:pPr algn="l"/>
            <a:r>
              <a:rPr lang="en-US" sz="1400" b="0" i="0" u="none">
                <a:solidFill>
                  <a:srgbClr val="B0C4D8"/>
                </a:solidFill>
              </a:rPr>
              <a:t>Zustand 5 状态管理</a:t>
            </a:r>
          </a:p>
        </p:txBody>
      </p:sp>
      <p:sp>
        <p:nvSpPr>
          <p:cNvPr id="16" name="TextBox"/>
          <p:cNvSpPr/>
          <p:nvPr/>
        </p:nvSpPr>
        <p:spPr>
          <a:xfrm>
            <a:off x="0" y="3495675"/>
            <a:ext cx="12192000" cy="355600"/>
          </a:xfrm>
        </p:spPr>
        <p:txBody>
          <a:bodyPr wrap="square" rtlCol="0" anchor="t"/>
          <a:lstStyle/>
          <a:p>
            <a:pPr algn="ctr"/>
            <a:r>
              <a:rPr lang="en-US" sz="2000" b="0" i="0" u="none">
                <a:solidFill>
                  <a:srgbClr val="404060"/>
                </a:solidFill>
              </a:rPr>
              <a:t>▼</a:t>
            </a:r>
          </a:p>
        </p:txBody>
      </p:sp>
      <p:sp>
        <p:nvSpPr>
          <p:cNvPr id="17" name="Shape"/>
          <p:cNvSpPr/>
          <p:nvPr/>
        </p:nvSpPr>
        <p:spPr>
          <a:xfrm>
            <a:off x="762000" y="3619500"/>
            <a:ext cx="10668000" cy="666750"/>
          </a:xfrm>
          <a:prstGeom prst="roundRect">
            <a:avLst>
              <a:gd name="adj" fmla="val 714"/>
            </a:avLst>
          </a:prstGeom>
          <a:solidFill>
            <a:srgbClr val="64C896">
              <a:alpha val="8000"/>
            </a:srgbClr>
          </a:solidFill>
          <a:ln w="19050">
            <a:solidFill>
              <a:srgbClr val="64C896">
                <a:alpha val="25000"/>
              </a:srgbClr>
            </a:solidFill>
          </a:ln>
        </p:spPr>
      </p:sp>
      <p:sp>
        <p:nvSpPr>
          <p:cNvPr id="18" name="TextBox"/>
          <p:cNvSpPr/>
          <p:nvPr/>
        </p:nvSpPr>
        <p:spPr>
          <a:xfrm>
            <a:off x="1047750" y="4000500"/>
            <a:ext cx="12192000" cy="284480"/>
          </a:xfrm>
        </p:spPr>
        <p:txBody>
          <a:bodyPr wrap="square" rtlCol="0" anchor="t"/>
          <a:lstStyle/>
          <a:p>
            <a:pPr algn="l"/>
            <a:r>
              <a:rPr lang="en-US" sz="1600" b="0" i="0" u="none">
                <a:solidFill>
                  <a:srgbClr val="6CC8A0"/>
                </a:solidFill>
              </a:rPr>
              <a:t>编辑器核心</a:t>
            </a:r>
          </a:p>
        </p:txBody>
      </p:sp>
      <p:sp>
        <p:nvSpPr>
          <p:cNvPr id="19" name="TextBox"/>
          <p:cNvSpPr/>
          <p:nvPr/>
        </p:nvSpPr>
        <p:spPr>
          <a:xfrm>
            <a:off x="3048000" y="4000500"/>
            <a:ext cx="12192000" cy="248920"/>
          </a:xfrm>
        </p:spPr>
        <p:txBody>
          <a:bodyPr wrap="square" rtlCol="0" anchor="t"/>
          <a:lstStyle/>
          <a:p>
            <a:pPr algn="l"/>
            <a:r>
              <a:rPr lang="en-US" sz="1400" b="0" i="0" u="none">
                <a:solidFill>
                  <a:srgbClr val="B0C4D8"/>
                </a:solidFill>
              </a:rPr>
              <a:t>ProseMirror（富文本）</a:t>
            </a:r>
          </a:p>
        </p:txBody>
      </p:sp>
      <p:sp>
        <p:nvSpPr>
          <p:cNvPr id="20" name="TextBox"/>
          <p:cNvSpPr/>
          <p:nvPr/>
        </p:nvSpPr>
        <p:spPr>
          <a:xfrm>
            <a:off x="5524500" y="4000500"/>
            <a:ext cx="12192000" cy="248920"/>
          </a:xfrm>
        </p:spPr>
        <p:txBody>
          <a:bodyPr wrap="square" rtlCol="0" anchor="t"/>
          <a:lstStyle/>
          <a:p>
            <a:pPr algn="l"/>
            <a:r>
              <a:rPr lang="en-US" sz="1400" b="0" i="0" u="none">
                <a:solidFill>
                  <a:srgbClr val="B0C4D8"/>
                </a:solidFill>
              </a:rPr>
              <a:t>CodeMirror（代码）</a:t>
            </a:r>
          </a:p>
        </p:txBody>
      </p:sp>
      <p:sp>
        <p:nvSpPr>
          <p:cNvPr id="21" name="TextBox"/>
          <p:cNvSpPr/>
          <p:nvPr/>
        </p:nvSpPr>
        <p:spPr>
          <a:xfrm>
            <a:off x="8001000" y="4000500"/>
            <a:ext cx="12192000" cy="248920"/>
          </a:xfrm>
        </p:spPr>
        <p:txBody>
          <a:bodyPr wrap="square" rtlCol="0" anchor="t"/>
          <a:lstStyle/>
          <a:p>
            <a:pPr algn="l"/>
            <a:r>
              <a:rPr lang="en-US" sz="1400" b="0" i="0" u="none">
                <a:solidFill>
                  <a:srgbClr val="B0C4D8"/>
                </a:solidFill>
              </a:rPr>
              <a:t>FortuneSheet（表格）</a:t>
            </a:r>
          </a:p>
        </p:txBody>
      </p:sp>
      <p:sp>
        <p:nvSpPr>
          <p:cNvPr id="22" name="TextBox"/>
          <p:cNvSpPr/>
          <p:nvPr/>
        </p:nvSpPr>
        <p:spPr>
          <a:xfrm>
            <a:off x="0" y="4495800"/>
            <a:ext cx="12192000" cy="355600"/>
          </a:xfrm>
        </p:spPr>
        <p:txBody>
          <a:bodyPr wrap="square" rtlCol="0" anchor="t"/>
          <a:lstStyle/>
          <a:p>
            <a:pPr algn="ctr"/>
            <a:r>
              <a:rPr lang="en-US" sz="2000" b="0" i="0" u="none">
                <a:solidFill>
                  <a:srgbClr val="404060"/>
                </a:solidFill>
              </a:rPr>
              <a:t>▼</a:t>
            </a:r>
          </a:p>
        </p:txBody>
      </p:sp>
      <p:sp>
        <p:nvSpPr>
          <p:cNvPr id="23" name="Shape"/>
          <p:cNvSpPr/>
          <p:nvPr/>
        </p:nvSpPr>
        <p:spPr>
          <a:xfrm>
            <a:off x="762000" y="4619625"/>
            <a:ext cx="10668000" cy="666750"/>
          </a:xfrm>
          <a:prstGeom prst="roundRect">
            <a:avLst>
              <a:gd name="adj" fmla="val 714"/>
            </a:avLst>
          </a:prstGeom>
          <a:solidFill>
            <a:srgbClr val="C89650">
              <a:alpha val="8000"/>
            </a:srgbClr>
          </a:solidFill>
          <a:ln w="19050">
            <a:solidFill>
              <a:srgbClr val="C89650">
                <a:alpha val="25000"/>
              </a:srgbClr>
            </a:solidFill>
          </a:ln>
        </p:spPr>
      </p:sp>
      <p:sp>
        <p:nvSpPr>
          <p:cNvPr id="24" name="TextBox"/>
          <p:cNvSpPr/>
          <p:nvPr/>
        </p:nvSpPr>
        <p:spPr>
          <a:xfrm>
            <a:off x="1047750" y="5000625"/>
            <a:ext cx="12192000" cy="284480"/>
          </a:xfrm>
        </p:spPr>
        <p:txBody>
          <a:bodyPr wrap="square" rtlCol="0" anchor="t"/>
          <a:lstStyle/>
          <a:p>
            <a:pPr algn="l"/>
            <a:r>
              <a:rPr lang="en-US" sz="1600" b="0" i="0" u="none">
                <a:solidFill>
                  <a:srgbClr val="C8A050"/>
                </a:solidFill>
              </a:rPr>
              <a:t>AI 引擎与服务</a:t>
            </a:r>
          </a:p>
        </p:txBody>
      </p:sp>
      <p:sp>
        <p:nvSpPr>
          <p:cNvPr id="25" name="TextBox"/>
          <p:cNvSpPr/>
          <p:nvPr/>
        </p:nvSpPr>
        <p:spPr>
          <a:xfrm>
            <a:off x="3048000" y="5000625"/>
            <a:ext cx="12192000" cy="248920"/>
          </a:xfrm>
        </p:spPr>
        <p:txBody>
          <a:bodyPr wrap="square" rtlCol="0" anchor="t"/>
          <a:lstStyle/>
          <a:p>
            <a:pPr algn="l"/>
            <a:r>
              <a:rPr lang="en-US" sz="1400" b="0" i="0" u="none">
                <a:solidFill>
                  <a:srgbClr val="B0C4D8"/>
                </a:solidFill>
              </a:rPr>
              <a:t>AI Agent 智能体系统</a:t>
            </a:r>
          </a:p>
        </p:txBody>
      </p:sp>
      <p:sp>
        <p:nvSpPr>
          <p:cNvPr id="26" name="TextBox"/>
          <p:cNvSpPr/>
          <p:nvPr/>
        </p:nvSpPr>
        <p:spPr>
          <a:xfrm>
            <a:off x="5524500" y="5000625"/>
            <a:ext cx="12192000" cy="248920"/>
          </a:xfrm>
        </p:spPr>
        <p:txBody>
          <a:bodyPr wrap="square" rtlCol="0" anchor="t"/>
          <a:lstStyle/>
          <a:p>
            <a:pPr algn="l"/>
            <a:r>
              <a:rPr lang="en-US" sz="1400" b="0" i="0" u="none">
                <a:solidFill>
                  <a:srgbClr val="B0C4D8"/>
                </a:solidFill>
              </a:rPr>
              <a:t>知识库（向量搜索）</a:t>
            </a:r>
          </a:p>
        </p:txBody>
      </p:sp>
      <p:sp>
        <p:nvSpPr>
          <p:cNvPr id="27" name="TextBox"/>
          <p:cNvSpPr/>
          <p:nvPr/>
        </p:nvSpPr>
        <p:spPr>
          <a:xfrm>
            <a:off x="8001000" y="5000625"/>
            <a:ext cx="12192000" cy="248920"/>
          </a:xfrm>
        </p:spPr>
        <p:txBody>
          <a:bodyPr wrap="square" rtlCol="0" anchor="t"/>
          <a:lstStyle/>
          <a:p>
            <a:pPr algn="l"/>
            <a:r>
              <a:rPr lang="en-US" sz="1400" b="0" i="0" u="none">
                <a:solidFill>
                  <a:srgbClr val="B0C4D8"/>
                </a:solidFill>
              </a:rPr>
              <a:t>inkuo Cloud 云服务</a:t>
            </a:r>
          </a:p>
        </p:txBody>
      </p:sp>
      <p:sp>
        <p:nvSpPr>
          <p:cNvPr id="28" name="TextBox"/>
          <p:cNvSpPr/>
          <p:nvPr/>
        </p:nvSpPr>
        <p:spPr>
          <a:xfrm>
            <a:off x="0" y="5495925"/>
            <a:ext cx="12192000" cy="355600"/>
          </a:xfrm>
        </p:spPr>
        <p:txBody>
          <a:bodyPr wrap="square" rtlCol="0" anchor="t"/>
          <a:lstStyle/>
          <a:p>
            <a:pPr algn="ctr"/>
            <a:r>
              <a:rPr lang="en-US" sz="2000" b="0" i="0" u="none">
                <a:solidFill>
                  <a:srgbClr val="404060"/>
                </a:solidFill>
              </a:rPr>
              <a:t>▼</a:t>
            </a:r>
          </a:p>
        </p:txBody>
      </p:sp>
      <p:sp>
        <p:nvSpPr>
          <p:cNvPr id="29" name="Shape"/>
          <p:cNvSpPr/>
          <p:nvPr/>
        </p:nvSpPr>
        <p:spPr>
          <a:xfrm>
            <a:off x="762000" y="5619750"/>
            <a:ext cx="10668000" cy="666750"/>
          </a:xfrm>
          <a:prstGeom prst="roundRect">
            <a:avLst>
              <a:gd name="adj" fmla="val 714"/>
            </a:avLst>
          </a:prstGeom>
          <a:solidFill>
            <a:srgbClr val="C85078">
              <a:alpha val="8000"/>
            </a:srgbClr>
          </a:solidFill>
          <a:ln w="19050">
            <a:solidFill>
              <a:srgbClr val="C85078">
                <a:alpha val="25000"/>
              </a:srgbClr>
            </a:solidFill>
          </a:ln>
        </p:spPr>
      </p:sp>
      <p:sp>
        <p:nvSpPr>
          <p:cNvPr id="30" name="TextBox"/>
          <p:cNvSpPr/>
          <p:nvPr/>
        </p:nvSpPr>
        <p:spPr>
          <a:xfrm>
            <a:off x="1047750" y="6000750"/>
            <a:ext cx="12192000" cy="284480"/>
          </a:xfrm>
        </p:spPr>
        <p:txBody>
          <a:bodyPr wrap="square" rtlCol="0" anchor="t"/>
          <a:lstStyle/>
          <a:p>
            <a:pPr algn="l"/>
            <a:r>
              <a:rPr lang="en-US" sz="1600" b="0" i="0" u="none">
                <a:solidFill>
                  <a:srgbClr val="C85078"/>
                </a:solidFill>
              </a:rPr>
              <a:t>文档解析引擎</a:t>
            </a:r>
          </a:p>
        </p:txBody>
      </p:sp>
      <p:sp>
        <p:nvSpPr>
          <p:cNvPr id="31" name="TextBox"/>
          <p:cNvSpPr/>
          <p:nvPr/>
        </p:nvSpPr>
        <p:spPr>
          <a:xfrm>
            <a:off x="3048000" y="6000750"/>
            <a:ext cx="12192000" cy="248920"/>
          </a:xfrm>
        </p:spPr>
        <p:txBody>
          <a:bodyPr wrap="square" rtlCol="0" anchor="t"/>
          <a:lstStyle/>
          <a:p>
            <a:pPr algn="l"/>
            <a:r>
              <a:rPr lang="en-US" sz="1400" b="0" i="0" u="none">
                <a:solidFill>
                  <a:srgbClr val="B0C4D8"/>
                </a:solidFill>
              </a:rPr>
              <a:t>docx-editor-core（Word）</a:t>
            </a:r>
          </a:p>
        </p:txBody>
      </p:sp>
      <p:sp>
        <p:nvSpPr>
          <p:cNvPr id="32" name="TextBox"/>
          <p:cNvSpPr/>
          <p:nvPr/>
        </p:nvSpPr>
        <p:spPr>
          <a:xfrm>
            <a:off x="5524500" y="6000750"/>
            <a:ext cx="12192000" cy="248920"/>
          </a:xfrm>
        </p:spPr>
        <p:txBody>
          <a:bodyPr wrap="square" rtlCol="0" anchor="t"/>
          <a:lstStyle/>
          <a:p>
            <a:pPr algn="l"/>
            <a:r>
              <a:rPr lang="en-US" sz="1400" b="0" i="0" u="none">
                <a:solidFill>
                  <a:srgbClr val="B0C4D8"/>
                </a:solidFill>
              </a:rPr>
              <a:t>xlsx（Excel）</a:t>
            </a:r>
          </a:p>
        </p:txBody>
      </p:sp>
      <p:sp>
        <p:nvSpPr>
          <p:cNvPr id="33" name="TextBox"/>
          <p:cNvSpPr/>
          <p:nvPr/>
        </p:nvSpPr>
        <p:spPr>
          <a:xfrm>
            <a:off x="8001000" y="6000750"/>
            <a:ext cx="12192000" cy="248920"/>
          </a:xfrm>
        </p:spPr>
        <p:txBody>
          <a:bodyPr wrap="square" rtlCol="0" anchor="t"/>
          <a:lstStyle/>
          <a:p>
            <a:pPr algn="l"/>
            <a:r>
              <a:rPr lang="en-US" sz="1400" b="0" i="0" u="none">
                <a:solidFill>
                  <a:srgbClr val="B0C4D8"/>
                </a:solidFill>
              </a:rPr>
              <a:t>pdfjs-dist（PDF）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0F23">
              <a:alpha val="100000"/>
            </a:srgbClr>
          </a:solidFill>
          <a:ln>
            <a:noFill/>
          </a:ln>
        </p:spPr>
      </p:sp>
      <p:sp>
        <p:nvSpPr>
          <p:cNvPr id="3" name="TextBox"/>
          <p:cNvSpPr/>
          <p:nvPr/>
        </p:nvSpPr>
        <p:spPr>
          <a:xfrm>
            <a:off x="762000" y="1047750"/>
            <a:ext cx="12192000" cy="640080"/>
          </a:xfrm>
        </p:spPr>
        <p:txBody>
          <a:bodyPr wrap="square" rtlCol="0" anchor="t"/>
          <a:lstStyle/>
          <a:p>
            <a:pPr algn="l"/>
            <a:r>
              <a:rPr lang="en-US" sz="3600" b="0" i="0" u="none">
                <a:solidFill>
                  <a:srgbClr val="FFFFFF"/>
                </a:solidFill>
              </a:rPr>
              <a:t>跨平台支持与适用场景</a:t>
            </a:r>
          </a:p>
        </p:txBody>
      </p:sp>
      <p:cxnSp>
        <p:nvCxnSpPr>
          <p:cNvPr id="4" name="Line"/>
          <p:cNvCxnSpPr/>
          <p:nvPr/>
        </p:nvCxnSpPr>
        <p:spPr>
          <a:xfrm>
            <a:off x="762000" y="1190625"/>
            <a:ext cx="4476750" cy="0"/>
          </a:xfrm>
          <a:prstGeom prst="line">
            <a:avLst/>
          </a:prstGeom>
          <a:ln w="12700">
            <a:solidFill>
              <a:srgbClr val="FFFFFF"/>
            </a:solidFill>
          </a:ln>
        </p:spPr>
      </p:cxnSp>
      <p:sp>
        <p:nvSpPr>
          <p:cNvPr id="5" name="TextBox"/>
          <p:cNvSpPr/>
          <p:nvPr/>
        </p:nvSpPr>
        <p:spPr>
          <a:xfrm>
            <a:off x="762000" y="1714500"/>
            <a:ext cx="12192000" cy="391160"/>
          </a:xfrm>
        </p:spPr>
        <p:txBody>
          <a:bodyPr wrap="square" rtlCol="0" anchor="t"/>
          <a:lstStyle/>
          <a:p>
            <a:pPr algn="l"/>
            <a:r>
              <a:rPr lang="en-US" sz="2200" b="0" i="0" u="none">
                <a:solidFill>
                  <a:srgbClr val="00D2FF"/>
                </a:solidFill>
              </a:rPr>
              <a:t>跨平台支持</a:t>
            </a:r>
          </a:p>
        </p:txBody>
      </p:sp>
      <p:sp>
        <p:nvSpPr>
          <p:cNvPr id="6" name="Shape"/>
          <p:cNvSpPr/>
          <p:nvPr/>
        </p:nvSpPr>
        <p:spPr>
          <a:xfrm>
            <a:off x="762000" y="1905000"/>
            <a:ext cx="3238500" cy="762000"/>
          </a:xfrm>
          <a:prstGeom prst="roundRect">
            <a:avLst>
              <a:gd name="adj" fmla="val 2353"/>
            </a:avLst>
          </a:prstGeom>
          <a:solidFill>
            <a:srgbClr val="00D2FF">
              <a:alpha val="6000"/>
            </a:srgbClr>
          </a:solidFill>
          <a:ln w="12700">
            <a:solidFill>
              <a:srgbClr val="00D2FF">
                <a:alpha val="15000"/>
              </a:srgbClr>
            </a:solidFill>
          </a:ln>
        </p:spPr>
      </p:sp>
      <p:sp>
        <p:nvSpPr>
          <p:cNvPr id="7" name="TextBox"/>
          <p:cNvSpPr/>
          <p:nvPr/>
        </p:nvSpPr>
        <p:spPr>
          <a:xfrm>
            <a:off x="-3714750" y="2238375"/>
            <a:ext cx="12192000" cy="320040"/>
          </a:xfrm>
        </p:spPr>
        <p:txBody>
          <a:bodyPr wrap="square" rtlCol="0" anchor="t"/>
          <a:lstStyle/>
          <a:p>
            <a:pPr algn="ctr"/>
            <a:r>
              <a:rPr lang="en-US" sz="1800" b="0" i="0" u="none">
                <a:solidFill>
                  <a:srgbClr val="FFFFFF"/>
                </a:solidFill>
              </a:rPr>
              <a:t>Windows</a:t>
            </a:r>
          </a:p>
        </p:txBody>
      </p:sp>
      <p:sp>
        <p:nvSpPr>
          <p:cNvPr id="8" name="TextBox"/>
          <p:cNvSpPr/>
          <p:nvPr/>
        </p:nvSpPr>
        <p:spPr>
          <a:xfrm>
            <a:off x="-3714750" y="2457450"/>
            <a:ext cx="12192000" cy="231140"/>
          </a:xfrm>
        </p:spPr>
        <p:txBody>
          <a:bodyPr wrap="square" rtlCol="0" anchor="t"/>
          <a:lstStyle/>
          <a:p>
            <a:pPr algn="ctr"/>
            <a:r>
              <a:rPr lang="en-US" sz="1300" b="0" i="0" u="none">
                <a:solidFill>
                  <a:srgbClr val="7090B0"/>
                </a:solidFill>
              </a:rPr>
              <a:t>Windows 10/11 · NSIS/MSI 安装</a:t>
            </a:r>
          </a:p>
        </p:txBody>
      </p:sp>
      <p:sp>
        <p:nvSpPr>
          <p:cNvPr id="9" name="Shape"/>
          <p:cNvSpPr/>
          <p:nvPr/>
        </p:nvSpPr>
        <p:spPr>
          <a:xfrm>
            <a:off x="4476750" y="1905000"/>
            <a:ext cx="3238500" cy="762000"/>
          </a:xfrm>
          <a:prstGeom prst="roundRect">
            <a:avLst>
              <a:gd name="adj" fmla="val 2353"/>
            </a:avLst>
          </a:prstGeom>
          <a:solidFill>
            <a:srgbClr val="3A7BD5">
              <a:alpha val="6000"/>
            </a:srgbClr>
          </a:solidFill>
          <a:ln w="12700">
            <a:solidFill>
              <a:srgbClr val="3A7BD5">
                <a:alpha val="15000"/>
              </a:srgbClr>
            </a:solidFill>
          </a:ln>
        </p:spPr>
      </p:sp>
      <p:sp>
        <p:nvSpPr>
          <p:cNvPr id="10" name="TextBox"/>
          <p:cNvSpPr/>
          <p:nvPr/>
        </p:nvSpPr>
        <p:spPr>
          <a:xfrm>
            <a:off x="0" y="2238375"/>
            <a:ext cx="12192000" cy="320040"/>
          </a:xfrm>
        </p:spPr>
        <p:txBody>
          <a:bodyPr wrap="square" rtlCol="0" anchor="t"/>
          <a:lstStyle/>
          <a:p>
            <a:pPr algn="ctr"/>
            <a:r>
              <a:rPr lang="en-US" sz="1800" b="0" i="0" u="none">
                <a:solidFill>
                  <a:srgbClr val="FFFFFF"/>
                </a:solidFill>
              </a:rPr>
              <a:t>macOS</a:t>
            </a:r>
          </a:p>
        </p:txBody>
      </p:sp>
      <p:sp>
        <p:nvSpPr>
          <p:cNvPr id="11" name="TextBox"/>
          <p:cNvSpPr/>
          <p:nvPr/>
        </p:nvSpPr>
        <p:spPr>
          <a:xfrm>
            <a:off x="0" y="2457450"/>
            <a:ext cx="12192000" cy="231140"/>
          </a:xfrm>
        </p:spPr>
        <p:txBody>
          <a:bodyPr wrap="square" rtlCol="0" anchor="t"/>
          <a:lstStyle/>
          <a:p>
            <a:pPr algn="ctr"/>
            <a:r>
              <a:rPr lang="en-US" sz="1300" b="0" i="0" u="none">
                <a:solidFill>
                  <a:srgbClr val="7090B0"/>
                </a:solidFill>
              </a:rPr>
              <a:t>.dmg 构建</a:t>
            </a:r>
          </a:p>
        </p:txBody>
      </p:sp>
      <p:sp>
        <p:nvSpPr>
          <p:cNvPr id="12" name="Shape"/>
          <p:cNvSpPr/>
          <p:nvPr/>
        </p:nvSpPr>
        <p:spPr>
          <a:xfrm>
            <a:off x="8191500" y="1905000"/>
            <a:ext cx="3238500" cy="762000"/>
          </a:xfrm>
          <a:prstGeom prst="roundRect">
            <a:avLst>
              <a:gd name="adj" fmla="val 2353"/>
            </a:avLst>
          </a:prstGeom>
          <a:solidFill>
            <a:srgbClr val="64C896">
              <a:alpha val="6000"/>
            </a:srgbClr>
          </a:solidFill>
          <a:ln w="12700">
            <a:solidFill>
              <a:srgbClr val="64C896">
                <a:alpha val="15000"/>
              </a:srgbClr>
            </a:solidFill>
          </a:ln>
        </p:spPr>
      </p:sp>
      <p:sp>
        <p:nvSpPr>
          <p:cNvPr id="13" name="TextBox"/>
          <p:cNvSpPr/>
          <p:nvPr/>
        </p:nvSpPr>
        <p:spPr>
          <a:xfrm>
            <a:off x="3714750" y="2238375"/>
            <a:ext cx="12192000" cy="320040"/>
          </a:xfrm>
        </p:spPr>
        <p:txBody>
          <a:bodyPr wrap="square" rtlCol="0" anchor="t"/>
          <a:lstStyle/>
          <a:p>
            <a:pPr algn="ctr"/>
            <a:r>
              <a:rPr lang="en-US" sz="1800" b="0" i="0" u="none">
                <a:solidFill>
                  <a:srgbClr val="FFFFFF"/>
                </a:solidFill>
              </a:rPr>
              <a:t>Linux</a:t>
            </a:r>
          </a:p>
        </p:txBody>
      </p:sp>
      <p:sp>
        <p:nvSpPr>
          <p:cNvPr id="14" name="TextBox"/>
          <p:cNvSpPr/>
          <p:nvPr/>
        </p:nvSpPr>
        <p:spPr>
          <a:xfrm>
            <a:off x="3714750" y="2457450"/>
            <a:ext cx="12192000" cy="231140"/>
          </a:xfrm>
        </p:spPr>
        <p:txBody>
          <a:bodyPr wrap="square" rtlCol="0" anchor="t"/>
          <a:lstStyle/>
          <a:p>
            <a:pPr algn="ctr"/>
            <a:r>
              <a:rPr lang="en-US" sz="1300" b="0" i="0" u="none">
                <a:solidFill>
                  <a:srgbClr val="7090B0"/>
                </a:solidFill>
              </a:rPr>
              <a:t>.deb / AppImage 构建</a:t>
            </a:r>
          </a:p>
        </p:txBody>
      </p:sp>
      <p:sp>
        <p:nvSpPr>
          <p:cNvPr id="15" name="TextBox"/>
          <p:cNvSpPr/>
          <p:nvPr/>
        </p:nvSpPr>
        <p:spPr>
          <a:xfrm>
            <a:off x="762000" y="3333750"/>
            <a:ext cx="12192000" cy="391160"/>
          </a:xfrm>
        </p:spPr>
        <p:txBody>
          <a:bodyPr wrap="square" rtlCol="0" anchor="t"/>
          <a:lstStyle/>
          <a:p>
            <a:pPr algn="l"/>
            <a:r>
              <a:rPr lang="en-US" sz="2200" b="0" i="0" u="none">
                <a:solidFill>
                  <a:srgbClr val="5A9BE5"/>
                </a:solidFill>
              </a:rPr>
              <a:t>适用场景</a:t>
            </a:r>
          </a:p>
        </p:txBody>
      </p:sp>
      <p:sp>
        <p:nvSpPr>
          <p:cNvPr id="16" name="Shape"/>
          <p:cNvSpPr/>
          <p:nvPr/>
        </p:nvSpPr>
        <p:spPr>
          <a:xfrm>
            <a:off x="762000" y="3524250"/>
            <a:ext cx="2428875" cy="1143000"/>
          </a:xfrm>
          <a:prstGeom prst="roundRect">
            <a:avLst>
              <a:gd name="adj" fmla="val 3922"/>
            </a:avLst>
          </a:prstGeom>
          <a:solidFill>
            <a:srgbClr val="00D2FF">
              <a:alpha val="4000"/>
            </a:srgbClr>
          </a:solidFill>
          <a:ln w="12700">
            <a:solidFill>
              <a:srgbClr val="00D2FF">
                <a:alpha val="12000"/>
              </a:srgbClr>
            </a:solidFill>
          </a:ln>
        </p:spPr>
      </p:sp>
      <p:sp>
        <p:nvSpPr>
          <p:cNvPr id="17" name="TextBox"/>
          <p:cNvSpPr/>
          <p:nvPr/>
        </p:nvSpPr>
        <p:spPr>
          <a:xfrm>
            <a:off x="-4124325" y="3810000"/>
            <a:ext cx="12192000" cy="284480"/>
          </a:xfrm>
        </p:spPr>
        <p:txBody>
          <a:bodyPr wrap="square" rtlCol="0" anchor="t"/>
          <a:lstStyle/>
          <a:p>
            <a:pPr algn="ctr"/>
            <a:r>
              <a:rPr lang="en-US" sz="1600" b="0" i="0" u="none">
                <a:solidFill>
                  <a:srgbClr val="00D2FF"/>
                </a:solidFill>
              </a:rPr>
              <a:t>开发者</a:t>
            </a:r>
          </a:p>
        </p:txBody>
      </p:sp>
      <p:sp>
        <p:nvSpPr>
          <p:cNvPr id="18" name="TextBox"/>
          <p:cNvSpPr/>
          <p:nvPr/>
        </p:nvSpPr>
        <p:spPr>
          <a:xfrm>
            <a:off x="952500" y="4076700"/>
            <a:ext cx="12192000" cy="231140"/>
          </a:xfrm>
        </p:spPr>
        <p:txBody>
          <a:bodyPr wrap="square" rtlCol="0" anchor="t"/>
          <a:lstStyle/>
          <a:p>
            <a:pPr algn="l"/>
            <a:r>
              <a:rPr lang="en-US" sz="1300" b="0" i="0" u="none">
                <a:solidFill>
                  <a:srgbClr val="A0B4C8"/>
                </a:solidFill>
              </a:rPr>
              <a:t>技术文档编写</a:t>
            </a:r>
          </a:p>
        </p:txBody>
      </p:sp>
      <p:sp>
        <p:nvSpPr>
          <p:cNvPr id="19" name="TextBox"/>
          <p:cNvSpPr/>
          <p:nvPr/>
        </p:nvSpPr>
        <p:spPr>
          <a:xfrm>
            <a:off x="952500" y="4286250"/>
            <a:ext cx="12192000" cy="231140"/>
          </a:xfrm>
        </p:spPr>
        <p:txBody>
          <a:bodyPr wrap="square" rtlCol="0" anchor="t"/>
          <a:lstStyle/>
          <a:p>
            <a:pPr algn="l"/>
            <a:r>
              <a:rPr lang="en-US" sz="1300" b="0" i="0" u="none">
                <a:solidFill>
                  <a:srgbClr val="A0B4C8"/>
                </a:solidFill>
              </a:rPr>
              <a:t>代码阅读与编辑</a:t>
            </a:r>
          </a:p>
        </p:txBody>
      </p:sp>
      <p:sp>
        <p:nvSpPr>
          <p:cNvPr id="20" name="TextBox"/>
          <p:cNvSpPr/>
          <p:nvPr/>
        </p:nvSpPr>
        <p:spPr>
          <a:xfrm>
            <a:off x="952500" y="4495800"/>
            <a:ext cx="12192000" cy="231140"/>
          </a:xfrm>
        </p:spPr>
        <p:txBody>
          <a:bodyPr wrap="square" rtlCol="0" anchor="t"/>
          <a:lstStyle/>
          <a:p>
            <a:pPr algn="l"/>
            <a:r>
              <a:rPr lang="en-US" sz="1300" b="0" i="0" u="none">
                <a:solidFill>
                  <a:srgbClr val="A0B4C8"/>
                </a:solidFill>
              </a:rPr>
              <a:t>AI 辅助编程</a:t>
            </a:r>
          </a:p>
        </p:txBody>
      </p:sp>
      <p:sp>
        <p:nvSpPr>
          <p:cNvPr id="21" name="Shape"/>
          <p:cNvSpPr/>
          <p:nvPr/>
        </p:nvSpPr>
        <p:spPr>
          <a:xfrm>
            <a:off x="3381375" y="3524250"/>
            <a:ext cx="2428875" cy="1143000"/>
          </a:xfrm>
          <a:prstGeom prst="roundRect">
            <a:avLst>
              <a:gd name="adj" fmla="val 3922"/>
            </a:avLst>
          </a:prstGeom>
          <a:solidFill>
            <a:srgbClr val="3A7BD5">
              <a:alpha val="4000"/>
            </a:srgbClr>
          </a:solidFill>
          <a:ln w="12700">
            <a:solidFill>
              <a:srgbClr val="3A7BD5">
                <a:alpha val="12000"/>
              </a:srgbClr>
            </a:solidFill>
          </a:ln>
        </p:spPr>
      </p:sp>
      <p:sp>
        <p:nvSpPr>
          <p:cNvPr id="22" name="TextBox"/>
          <p:cNvSpPr/>
          <p:nvPr/>
        </p:nvSpPr>
        <p:spPr>
          <a:xfrm>
            <a:off x="-1504950" y="3810000"/>
            <a:ext cx="12192000" cy="284480"/>
          </a:xfrm>
        </p:spPr>
        <p:txBody>
          <a:bodyPr wrap="square" rtlCol="0" anchor="t"/>
          <a:lstStyle/>
          <a:p>
            <a:pPr algn="ctr"/>
            <a:r>
              <a:rPr lang="en-US" sz="1600" b="0" i="0" u="none">
                <a:solidFill>
                  <a:srgbClr val="5A9BE5"/>
                </a:solidFill>
              </a:rPr>
              <a:t>写作者</a:t>
            </a:r>
          </a:p>
        </p:txBody>
      </p:sp>
      <p:sp>
        <p:nvSpPr>
          <p:cNvPr id="23" name="TextBox"/>
          <p:cNvSpPr/>
          <p:nvPr/>
        </p:nvSpPr>
        <p:spPr>
          <a:xfrm>
            <a:off x="3571875" y="4076700"/>
            <a:ext cx="12192000" cy="231140"/>
          </a:xfrm>
        </p:spPr>
        <p:txBody>
          <a:bodyPr wrap="square" rtlCol="0" anchor="t"/>
          <a:lstStyle/>
          <a:p>
            <a:pPr algn="l"/>
            <a:r>
              <a:rPr lang="en-US" sz="1300" b="0" i="0" u="none">
                <a:solidFill>
                  <a:srgbClr val="A0B4C8"/>
                </a:solidFill>
              </a:rPr>
              <a:t>Markdown/Word 创作</a:t>
            </a:r>
          </a:p>
        </p:txBody>
      </p:sp>
      <p:sp>
        <p:nvSpPr>
          <p:cNvPr id="24" name="TextBox"/>
          <p:cNvSpPr/>
          <p:nvPr/>
        </p:nvSpPr>
        <p:spPr>
          <a:xfrm>
            <a:off x="3571875" y="4286250"/>
            <a:ext cx="12192000" cy="231140"/>
          </a:xfrm>
        </p:spPr>
        <p:txBody>
          <a:bodyPr wrap="square" rtlCol="0" anchor="t"/>
          <a:lstStyle/>
          <a:p>
            <a:pPr algn="l"/>
            <a:r>
              <a:rPr lang="en-US" sz="1300" b="0" i="0" u="none">
                <a:solidFill>
                  <a:srgbClr val="A0B4C8"/>
                </a:solidFill>
              </a:rPr>
              <a:t>AI 辅助润色</a:t>
            </a:r>
          </a:p>
        </p:txBody>
      </p:sp>
      <p:sp>
        <p:nvSpPr>
          <p:cNvPr id="25" name="TextBox"/>
          <p:cNvSpPr/>
          <p:nvPr/>
        </p:nvSpPr>
        <p:spPr>
          <a:xfrm>
            <a:off x="3571875" y="4495800"/>
            <a:ext cx="12192000" cy="231140"/>
          </a:xfrm>
        </p:spPr>
        <p:txBody>
          <a:bodyPr wrap="square" rtlCol="0" anchor="t"/>
          <a:lstStyle/>
          <a:p>
            <a:pPr algn="l"/>
            <a:r>
              <a:rPr lang="en-US" sz="1300" b="0" i="0" u="none">
                <a:solidFill>
                  <a:srgbClr val="A0B4C8"/>
                </a:solidFill>
              </a:rPr>
              <a:t>多格式输出</a:t>
            </a:r>
          </a:p>
        </p:txBody>
      </p:sp>
      <p:sp>
        <p:nvSpPr>
          <p:cNvPr id="26" name="Shape"/>
          <p:cNvSpPr/>
          <p:nvPr/>
        </p:nvSpPr>
        <p:spPr>
          <a:xfrm>
            <a:off x="6000750" y="3524250"/>
            <a:ext cx="2428875" cy="1143000"/>
          </a:xfrm>
          <a:prstGeom prst="roundRect">
            <a:avLst>
              <a:gd name="adj" fmla="val 3922"/>
            </a:avLst>
          </a:prstGeom>
          <a:solidFill>
            <a:srgbClr val="64C896">
              <a:alpha val="4000"/>
            </a:srgbClr>
          </a:solidFill>
          <a:ln w="12700">
            <a:solidFill>
              <a:srgbClr val="64C896">
                <a:alpha val="12000"/>
              </a:srgbClr>
            </a:solidFill>
          </a:ln>
        </p:spPr>
      </p:sp>
      <p:sp>
        <p:nvSpPr>
          <p:cNvPr id="27" name="TextBox"/>
          <p:cNvSpPr/>
          <p:nvPr/>
        </p:nvSpPr>
        <p:spPr>
          <a:xfrm>
            <a:off x="1114425" y="3810000"/>
            <a:ext cx="12192000" cy="284480"/>
          </a:xfrm>
        </p:spPr>
        <p:txBody>
          <a:bodyPr wrap="square" rtlCol="0" anchor="t"/>
          <a:lstStyle/>
          <a:p>
            <a:pPr algn="ctr"/>
            <a:r>
              <a:rPr lang="en-US" sz="1600" b="0" i="0" u="none">
                <a:solidFill>
                  <a:srgbClr val="6CC8A0"/>
                </a:solidFill>
              </a:rPr>
              <a:t>数据分析师</a:t>
            </a:r>
          </a:p>
        </p:txBody>
      </p:sp>
      <p:sp>
        <p:nvSpPr>
          <p:cNvPr id="28" name="TextBox"/>
          <p:cNvSpPr/>
          <p:nvPr/>
        </p:nvSpPr>
        <p:spPr>
          <a:xfrm>
            <a:off x="6191250" y="4076700"/>
            <a:ext cx="12192000" cy="231140"/>
          </a:xfrm>
        </p:spPr>
        <p:txBody>
          <a:bodyPr wrap="square" rtlCol="0" anchor="t"/>
          <a:lstStyle/>
          <a:p>
            <a:pPr algn="l"/>
            <a:r>
              <a:rPr lang="en-US" sz="1300" b="0" i="0" u="none">
                <a:solidFill>
                  <a:srgbClr val="A0B4C8"/>
                </a:solidFill>
              </a:rPr>
              <a:t>表格数据处理</a:t>
            </a:r>
          </a:p>
        </p:txBody>
      </p:sp>
      <p:sp>
        <p:nvSpPr>
          <p:cNvPr id="29" name="TextBox"/>
          <p:cNvSpPr/>
          <p:nvPr/>
        </p:nvSpPr>
        <p:spPr>
          <a:xfrm>
            <a:off x="6191250" y="4286250"/>
            <a:ext cx="12192000" cy="231140"/>
          </a:xfrm>
        </p:spPr>
        <p:txBody>
          <a:bodyPr wrap="square" rtlCol="0" anchor="t"/>
          <a:lstStyle/>
          <a:p>
            <a:pPr algn="l"/>
            <a:r>
              <a:rPr lang="en-US" sz="1300" b="0" i="0" u="none">
                <a:solidFill>
                  <a:srgbClr val="A0B4C8"/>
                </a:solidFill>
              </a:rPr>
              <a:t>公式运算</a:t>
            </a:r>
          </a:p>
        </p:txBody>
      </p:sp>
      <p:sp>
        <p:nvSpPr>
          <p:cNvPr id="30" name="TextBox"/>
          <p:cNvSpPr/>
          <p:nvPr/>
        </p:nvSpPr>
        <p:spPr>
          <a:xfrm>
            <a:off x="6191250" y="4495800"/>
            <a:ext cx="12192000" cy="231140"/>
          </a:xfrm>
        </p:spPr>
        <p:txBody>
          <a:bodyPr wrap="square" rtlCol="0" anchor="t"/>
          <a:lstStyle/>
          <a:p>
            <a:pPr algn="l"/>
            <a:r>
              <a:rPr lang="en-US" sz="1300" b="0" i="0" u="none">
                <a:solidFill>
                  <a:srgbClr val="A0B4C8"/>
                </a:solidFill>
              </a:rPr>
              <a:t>报告生成</a:t>
            </a:r>
          </a:p>
        </p:txBody>
      </p:sp>
      <p:sp>
        <p:nvSpPr>
          <p:cNvPr id="31" name="Shape"/>
          <p:cNvSpPr/>
          <p:nvPr/>
        </p:nvSpPr>
        <p:spPr>
          <a:xfrm>
            <a:off x="8620125" y="3524250"/>
            <a:ext cx="2428875" cy="1143000"/>
          </a:xfrm>
          <a:prstGeom prst="roundRect">
            <a:avLst>
              <a:gd name="adj" fmla="val 3922"/>
            </a:avLst>
          </a:prstGeom>
          <a:solidFill>
            <a:srgbClr val="C89650">
              <a:alpha val="4000"/>
            </a:srgbClr>
          </a:solidFill>
          <a:ln w="12700">
            <a:solidFill>
              <a:srgbClr val="C89650">
                <a:alpha val="12000"/>
              </a:srgbClr>
            </a:solidFill>
          </a:ln>
        </p:spPr>
      </p:sp>
      <p:sp>
        <p:nvSpPr>
          <p:cNvPr id="32" name="TextBox"/>
          <p:cNvSpPr/>
          <p:nvPr/>
        </p:nvSpPr>
        <p:spPr>
          <a:xfrm>
            <a:off x="3733800" y="3810000"/>
            <a:ext cx="12192000" cy="284480"/>
          </a:xfrm>
        </p:spPr>
        <p:txBody>
          <a:bodyPr wrap="square" rtlCol="0" anchor="t"/>
          <a:lstStyle/>
          <a:p>
            <a:pPr algn="ctr"/>
            <a:r>
              <a:rPr lang="en-US" sz="1600" b="0" i="0" u="none">
                <a:solidFill>
                  <a:srgbClr val="C8A050"/>
                </a:solidFill>
              </a:rPr>
              <a:t>项目经理</a:t>
            </a:r>
          </a:p>
        </p:txBody>
      </p:sp>
      <p:sp>
        <p:nvSpPr>
          <p:cNvPr id="33" name="TextBox"/>
          <p:cNvSpPr/>
          <p:nvPr/>
        </p:nvSpPr>
        <p:spPr>
          <a:xfrm>
            <a:off x="8810625" y="4076700"/>
            <a:ext cx="12192000" cy="231140"/>
          </a:xfrm>
        </p:spPr>
        <p:txBody>
          <a:bodyPr wrap="square" rtlCol="0" anchor="t"/>
          <a:lstStyle/>
          <a:p>
            <a:pPr algn="l"/>
            <a:r>
              <a:rPr lang="en-US" sz="1300" b="0" i="0" u="none">
                <a:solidFill>
                  <a:srgbClr val="A0B4C8"/>
                </a:solidFill>
              </a:rPr>
              <a:t>项目文档审阅</a:t>
            </a:r>
          </a:p>
        </p:txBody>
      </p:sp>
      <p:sp>
        <p:nvSpPr>
          <p:cNvPr id="34" name="TextBox"/>
          <p:cNvSpPr/>
          <p:nvPr/>
        </p:nvSpPr>
        <p:spPr>
          <a:xfrm>
            <a:off x="8810625" y="4286250"/>
            <a:ext cx="12192000" cy="231140"/>
          </a:xfrm>
        </p:spPr>
        <p:txBody>
          <a:bodyPr wrap="square" rtlCol="0" anchor="t"/>
          <a:lstStyle/>
          <a:p>
            <a:pPr algn="l"/>
            <a:r>
              <a:rPr lang="en-US" sz="1300" b="0" i="0" u="none">
                <a:solidFill>
                  <a:srgbClr val="A0B4C8"/>
                </a:solidFill>
              </a:rPr>
              <a:t>协作流程管理</a:t>
            </a:r>
          </a:p>
        </p:txBody>
      </p:sp>
      <p:sp>
        <p:nvSpPr>
          <p:cNvPr id="35" name="TextBox"/>
          <p:cNvSpPr/>
          <p:nvPr/>
        </p:nvSpPr>
        <p:spPr>
          <a:xfrm>
            <a:off x="8810625" y="4495800"/>
            <a:ext cx="12192000" cy="231140"/>
          </a:xfrm>
        </p:spPr>
        <p:txBody>
          <a:bodyPr wrap="square" rtlCol="0" anchor="t"/>
          <a:lstStyle/>
          <a:p>
            <a:pPr algn="l"/>
            <a:r>
              <a:rPr lang="en-US" sz="1300" b="0" i="0" u="none">
                <a:solidFill>
                  <a:srgbClr val="A0B4C8"/>
                </a:solidFill>
              </a:rPr>
              <a:t>知识库维护</a:t>
            </a:r>
          </a:p>
        </p:txBody>
      </p:sp>
      <p:sp>
        <p:nvSpPr>
          <p:cNvPr id="36" name="TextBox"/>
          <p:cNvSpPr/>
          <p:nvPr/>
        </p:nvSpPr>
        <p:spPr>
          <a:xfrm>
            <a:off x="762000" y="5143500"/>
            <a:ext cx="12192000" cy="248920"/>
          </a:xfrm>
        </p:spPr>
        <p:txBody>
          <a:bodyPr wrap="square" rtlCol="0" anchor="t"/>
          <a:lstStyle/>
          <a:p>
            <a:pPr algn="l"/>
            <a:r>
              <a:rPr lang="en-US" sz="1400" b="0" i="0" u="none">
                <a:solidFill>
                  <a:srgbClr val="6080A0"/>
                </a:solidFill>
              </a:rPr>
              <a:t>更多场景：研究人员（PDF 阅读与知识整理）· 学生（笔记与作业）· 团队协作（云端同步）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A2E">
              <a:alpha val="100000"/>
            </a:srgbClr>
          </a:solidFill>
          <a:ln>
            <a:noFill/>
          </a:ln>
        </p:spPr>
      </p:sp>
      <p:sp>
        <p:nvSpPr>
          <p:cNvPr id="3" name="Shape"/>
          <p:cNvSpPr/>
          <p:nvPr/>
        </p:nvSpPr>
        <p:spPr>
          <a:xfrm>
            <a:off x="3429000" y="762000"/>
            <a:ext cx="5334000" cy="5334000"/>
          </a:xfrm>
          <a:prstGeom prst="ellipse">
            <a:avLst/>
          </a:prstGeom>
          <a:noFill/>
          <a:ln w="12700">
            <a:solidFill>
              <a:srgbClr val="FFFFFF">
                <a:alpha val="2000"/>
              </a:srgbClr>
            </a:solidFill>
          </a:ln>
        </p:spPr>
      </p:sp>
      <p:sp>
        <p:nvSpPr>
          <p:cNvPr id="4" name="Shape"/>
          <p:cNvSpPr/>
          <p:nvPr/>
        </p:nvSpPr>
        <p:spPr>
          <a:xfrm>
            <a:off x="4191000" y="1524000"/>
            <a:ext cx="3810000" cy="3810000"/>
          </a:xfrm>
          <a:prstGeom prst="ellipse">
            <a:avLst/>
          </a:prstGeom>
          <a:noFill/>
          <a:ln w="6350">
            <a:solidFill>
              <a:srgbClr val="FFFFFF">
                <a:alpha val="2000"/>
              </a:srgbClr>
            </a:solidFill>
          </a:ln>
        </p:spPr>
      </p:sp>
      <p:sp>
        <p:nvSpPr>
          <p:cNvPr id="5" name="Shape"/>
          <p:cNvSpPr/>
          <p:nvPr/>
        </p:nvSpPr>
        <p:spPr>
          <a:xfrm>
            <a:off x="5143500" y="1905000"/>
            <a:ext cx="1905000" cy="38100"/>
          </a:xfrm>
          <a:prstGeom prst="roundRect">
            <a:avLst>
              <a:gd name="adj" fmla="val 1000"/>
            </a:avLst>
          </a:prstGeom>
          <a:solidFill>
            <a:srgbClr val="00D2FF">
              <a:alpha val="100000"/>
            </a:srgbClr>
          </a:solidFill>
          <a:ln>
            <a:noFill/>
          </a:ln>
        </p:spPr>
      </p:sp>
      <p:sp>
        <p:nvSpPr>
          <p:cNvPr id="6" name="TextBox"/>
          <p:cNvSpPr/>
          <p:nvPr/>
        </p:nvSpPr>
        <p:spPr>
          <a:xfrm>
            <a:off x="0" y="2857500"/>
            <a:ext cx="12192000" cy="853440"/>
          </a:xfrm>
        </p:spPr>
        <p:txBody>
          <a:bodyPr wrap="square" rtlCol="0" anchor="t"/>
          <a:lstStyle/>
          <a:p>
            <a:pPr algn="ctr"/>
            <a:r>
              <a:rPr lang="en-US" sz="4800" b="0" i="0" u="none">
                <a:solidFill>
                  <a:srgbClr val="FFFFFF"/>
                </a:solidFill>
              </a:rPr>
              <a:t>InkUO</a:t>
            </a:r>
          </a:p>
        </p:txBody>
      </p:sp>
      <p:sp>
        <p:nvSpPr>
          <p:cNvPr id="7" name="TextBox"/>
          <p:cNvSpPr/>
          <p:nvPr/>
        </p:nvSpPr>
        <p:spPr>
          <a:xfrm>
            <a:off x="0" y="3429000"/>
            <a:ext cx="12192000" cy="391160"/>
          </a:xfrm>
        </p:spPr>
        <p:txBody>
          <a:bodyPr wrap="square" rtlCol="0" anchor="t"/>
          <a:lstStyle/>
          <a:p>
            <a:pPr algn="ctr"/>
            <a:r>
              <a:rPr lang="en-US" sz="2200" b="0" i="0" u="none">
                <a:solidFill>
                  <a:srgbClr val="A0B4D8"/>
                </a:solidFill>
              </a:rPr>
              <a:t>AI 文档编辑中枢</a:t>
            </a:r>
          </a:p>
        </p:txBody>
      </p:sp>
      <p:sp>
        <p:nvSpPr>
          <p:cNvPr id="8" name="TextBox"/>
          <p:cNvSpPr/>
          <p:nvPr/>
        </p:nvSpPr>
        <p:spPr>
          <a:xfrm>
            <a:off x="0" y="4000500"/>
            <a:ext cx="12192000" cy="284480"/>
          </a:xfrm>
        </p:spPr>
        <p:txBody>
          <a:bodyPr wrap="square" rtlCol="0" anchor="t"/>
          <a:lstStyle/>
          <a:p>
            <a:pPr algn="ctr"/>
            <a:r>
              <a:rPr lang="en-US" sz="1600" b="0" i="0" u="none">
                <a:solidFill>
                  <a:srgbClr val="6C8EB0"/>
                </a:solidFill>
              </a:rPr>
              <a:t>融合 AI 智能与多格式编辑能力 · 让文档创作更高效、更智能</a:t>
            </a:r>
          </a:p>
        </p:txBody>
      </p:sp>
      <p:sp>
        <p:nvSpPr>
          <p:cNvPr id="9" name="TextBox"/>
          <p:cNvSpPr/>
          <p:nvPr/>
        </p:nvSpPr>
        <p:spPr>
          <a:xfrm>
            <a:off x="0" y="4476750"/>
            <a:ext cx="12192000" cy="248920"/>
          </a:xfrm>
        </p:spPr>
        <p:txBody>
          <a:bodyPr wrap="square" rtlCol="0" anchor="t"/>
          <a:lstStyle/>
          <a:p>
            <a:pPr algn="ctr"/>
            <a:r>
              <a:rPr lang="en-US" sz="1400" b="0" i="0" u="none">
                <a:solidFill>
                  <a:srgbClr val="4A6A8A"/>
                </a:solidFill>
              </a:rPr>
              <a:t>开源 · 跨平台 · 可扩展</a:t>
            </a:r>
          </a:p>
        </p:txBody>
      </p:sp>
      <p:sp>
        <p:nvSpPr>
          <p:cNvPr id="10" name="Shape"/>
          <p:cNvSpPr/>
          <p:nvPr/>
        </p:nvSpPr>
        <p:spPr>
          <a:xfrm>
            <a:off x="4667250" y="4953000"/>
            <a:ext cx="2857500" cy="419100"/>
          </a:xfrm>
          <a:prstGeom prst="roundRect">
            <a:avLst>
              <a:gd name="adj" fmla="val 7333"/>
            </a:avLst>
          </a:prstGeom>
          <a:solidFill>
            <a:srgbClr val="00D2FF">
              <a:alpha val="10000"/>
            </a:srgbClr>
          </a:solidFill>
          <a:ln w="12700">
            <a:solidFill>
              <a:srgbClr val="00D2FF">
                <a:alpha val="30000"/>
              </a:srgbClr>
            </a:solidFill>
          </a:ln>
        </p:spPr>
      </p:sp>
      <p:sp>
        <p:nvSpPr>
          <p:cNvPr id="11" name="TextBox"/>
          <p:cNvSpPr/>
          <p:nvPr/>
        </p:nvSpPr>
        <p:spPr>
          <a:xfrm>
            <a:off x="0" y="5219700"/>
            <a:ext cx="12192000" cy="266700"/>
          </a:xfrm>
        </p:spPr>
        <p:txBody>
          <a:bodyPr wrap="square" rtlCol="0" anchor="t"/>
          <a:lstStyle/>
          <a:p>
            <a:pPr algn="ctr"/>
            <a:r>
              <a:rPr lang="en-US" sz="1500" b="0" i="0" u="none">
                <a:solidFill>
                  <a:srgbClr val="00D2FF"/>
                </a:solidFill>
              </a:rPr>
              <a:t>github.com/inkuo/inkuo</a:t>
            </a:r>
          </a:p>
        </p:txBody>
      </p:sp>
    </p:spTree>
  </p:cSld>
</p:sld>
</file>

<file path=ppt/theme/theme1.xml><?xml version="1.0" encoding="utf-8"?>
<a:theme xmlns:a="http://schemas.openxmlformats.org/drawingml/2006/main" name="inkuo">
  <a:themeElements>
    <a:clrScheme name="inku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7C5CFF"/>
      </a:accent1>
      <a:accent2>
        <a:srgbClr val="4CC9F0"/>
      </a:accent2>
      <a:accent3>
        <a:srgbClr val="F72585"/>
      </a:accent3>
      <a:accent4>
        <a:srgbClr val="FFD166"/>
      </a:accent4>
      <a:accent5>
        <a:srgbClr val="06D6A0"/>
      </a:accent5>
      <a:accent6>
        <a:srgbClr val="9AA5B1"/>
      </a:accent6>
      <a:hlink>
        <a:srgbClr val="0563C1"/>
      </a:hlink>
      <a:folHlink>
        <a:srgbClr val="954F72"/>
      </a:folHlink>
    </a:clrScheme>
    <a:fontScheme name="inkuo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inkuo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>
          <a:solidFill>
            <a:schemeClr val="phClr"/>
          </a:solidFill>
        </a:ln>
        <a:ln>
          <a:solidFill>
            <a:schemeClr val="phClr"/>
          </a:solidFill>
        </a:ln>
        <a:ln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inkuo AI</Application>
  <AppVersion>1.0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E2E Smoke</dc:title>
  <dc:creator>inkuo AI</dc:creator>
  <cp:lastModifiedBy>inkuo AI</cp:lastModifiedBy>
  <dcterms:created xsi:type="dcterms:W3CDTF">2026-07-22T01:36:48.797739948+00:00</dcterms:created>
  <dcterms:modified xsi:type="dcterms:W3CDTF">2026-07-22T01:36:48.797739948+00:00</dcterms:modified>
</cp:coreProperties>
</file>