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8763000" y="-762000"/>
            <a:ext cx="3429000" cy="3429000"/>
          </a:xfrm>
          <a:prstGeom prst="ellipse">
            <a:avLst/>
          </a:prstGeom>
          <a:noFill/>
          <a:ln w="25400">
            <a:solidFill>
              <a:srgbClr val="FFFFFF">
                <a:alpha val="100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762000" y="4572000"/>
            <a:ext cx="2286000" cy="2286000"/>
          </a:xfrm>
          <a:prstGeom prst="ellipse">
            <a:avLst/>
          </a:prstGeom>
          <a:noFill/>
          <a:ln w="25400">
            <a:solidFill>
              <a:srgbClr val="FFFFFF">
                <a:alpha val="100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3238500" y="571500"/>
            <a:ext cx="5715000" cy="5715000"/>
          </a:xfrm>
          <a:prstGeom prst="ellipse">
            <a:avLst/>
          </a:prstGeom>
          <a:noFill/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5143500" y="2286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0" y="3333750"/>
            <a:ext cx="12192000" cy="1137920"/>
          </a:xfrm>
        </p:spPr>
        <p:txBody>
          <a:bodyPr wrap="square" rtlCol="0" anchor="t"/>
          <a:lstStyle/>
          <a:p>
            <a:pPr algn="ctr"/>
            <a:r>
              <a:rPr lang="en-US" sz="64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905250"/>
            <a:ext cx="12192000" cy="497840"/>
          </a:xfrm>
        </p:spPr>
        <p:txBody>
          <a:bodyPr wrap="square" rtlCol="0" anchor="t"/>
          <a:lstStyle/>
          <a:p>
            <a:pPr algn="ctr"/>
            <a:r>
              <a:rPr lang="en-US" sz="28" b="0" i="0" u="none">
                <a:solidFill>
                  <a:srgbClr val="A0B4D8"/>
                </a:solidFill>
              </a:rPr>
              <a:t>AI 文档编辑器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381500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6C8EB0"/>
                </a:solidFill>
              </a:rPr>
              <a:t>重新定义文档编辑方式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571500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4A6A8A"/>
                </a:solidFill>
              </a:rPr>
              <a:t>版本 0.1.0 ｜ 基于 Tauri 2 + React 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762000" y="571500"/>
            <a:ext cx="571500" cy="381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4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产品概述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" name="TextBox"/>
          <p:cNvSpPr/>
          <p:nvPr/>
        </p:nvSpPr>
        <p:spPr>
          <a:xfrm>
            <a:off x="76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0D0E8"/>
                </a:solidFill>
              </a:rPr>
              <a:t>InkUO 是一款面向知识工作者、开发者和创意团队的</a:t>
            </a:r>
            <a:r>
              <a:rPr lang="en-US" sz="18" b="0" i="0" u="none">
                <a:solidFill>
                  <a:srgbClr val="C0D0E8"/>
                </a:solidFill>
              </a:rPr>
              <a:t>AI 驱动文档编辑器桌面端。</a:t>
            </a:r>
          </a:p>
        </p:txBody>
      </p:sp>
      <p:sp>
        <p:nvSpPr>
          <p:cNvPr id="7" name="Shape"/>
          <p:cNvSpPr/>
          <p:nvPr/>
        </p:nvSpPr>
        <p:spPr>
          <a:xfrm>
            <a:off x="76200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8" name="TextBox"/>
          <p:cNvSpPr/>
          <p:nvPr/>
        </p:nvSpPr>
        <p:spPr>
          <a:xfrm>
            <a:off x="104775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00D2FF"/>
                </a:solidFill>
              </a:rPr>
              <a:t>多格式支持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Markdown · Word · Excel · 代码 · PDF · SVG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5A9BE5"/>
                </a:solidFill>
              </a:rPr>
              <a:t>AI 智能体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Ask · Plan · Agent 三模式 AI 助手</a:t>
            </a:r>
          </a:p>
        </p:txBody>
      </p:sp>
      <p:sp>
        <p:nvSpPr>
          <p:cNvPr id="13" name="Shape"/>
          <p:cNvSpPr/>
          <p:nvPr/>
        </p:nvSpPr>
        <p:spPr>
          <a:xfrm>
            <a:off x="809625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4" name="TextBox"/>
          <p:cNvSpPr/>
          <p:nvPr/>
        </p:nvSpPr>
        <p:spPr>
          <a:xfrm>
            <a:off x="838200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6CC8A0"/>
                </a:solidFill>
              </a:rPr>
              <a:t>桌面原生体验</a:t>
            </a:r>
          </a:p>
        </p:txBody>
      </p:sp>
      <p:sp>
        <p:nvSpPr>
          <p:cNvPr id="15" name="TextBox"/>
          <p:cNvSpPr/>
          <p:nvPr/>
        </p:nvSpPr>
        <p:spPr>
          <a:xfrm>
            <a:off x="838200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8AA8C8"/>
                </a:solidFill>
              </a:rPr>
              <a:t>Tauri 2 · 原生性能 · 跨平台</a:t>
            </a:r>
          </a:p>
        </p:txBody>
      </p:sp>
      <p:sp>
        <p:nvSpPr>
          <p:cNvPr id="16" name="TextBox"/>
          <p:cNvSpPr/>
          <p:nvPr/>
        </p:nvSpPr>
        <p:spPr>
          <a:xfrm>
            <a:off x="762000" y="4476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7090B0"/>
                </a:solidFill>
              </a:rPr>
              <a:t>无论你是撰写技术文档、编辑报告、处理数据表格，</a:t>
            </a:r>
            <a:r>
              <a:rPr lang="en-US" sz="16" b="0" i="0" u="none">
                <a:solidFill>
                  <a:srgbClr val="7090B0"/>
                </a:solidFill>
              </a:rPr>
              <a:t>还是阅读论文，InkUO 都能通过 AI 无缝融入你的工作流。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AI 智能体系统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-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00D2FF"/>
                </a:solidFill>
              </a:rPr>
              <a:t>Ask 问答模式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快速提问，获取即时回答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基于工作区知识库的语义搜索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上下文感知的精准回复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支持流式输出，实时生成</a:t>
            </a:r>
          </a:p>
        </p:txBody>
      </p:sp>
      <p:sp>
        <p:nvSpPr>
          <p:cNvPr id="12" name="Shape"/>
          <p:cNvSpPr/>
          <p:nvPr/>
        </p:nvSpPr>
        <p:spPr>
          <a:xfrm>
            <a:off x="447675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13" name="Shape"/>
          <p:cNvSpPr/>
          <p:nvPr/>
        </p:nvSpPr>
        <p:spPr>
          <a:xfrm>
            <a:off x="447675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3A7BD5">
              <a:alpha val="100000"/>
            </a:srgbClr>
          </a:solidFill>
          <a:ln>
            <a:noFill/>
          </a:ln>
        </p:spPr>
      </p:sp>
      <p:sp>
        <p:nvSpPr>
          <p:cNvPr id="14" name="TextBox"/>
          <p:cNvSpPr/>
          <p:nvPr/>
        </p:nvSpPr>
        <p:spPr>
          <a:xfrm>
            <a:off x="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5A9BE5"/>
                </a:solidFill>
              </a:rPr>
              <a:t>Plan 计划模式</a:t>
            </a:r>
          </a:p>
        </p:txBody>
      </p:sp>
      <p:sp>
        <p:nvSpPr>
          <p:cNvPr id="15" name="TextBox"/>
          <p:cNvSpPr/>
          <p:nvPr/>
        </p:nvSpPr>
        <p:spPr>
          <a:xfrm>
            <a:off x="476250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AI 分析需求，制定执行计划</a:t>
            </a:r>
          </a:p>
        </p:txBody>
      </p:sp>
      <p:sp>
        <p:nvSpPr>
          <p:cNvPr id="16" name="TextBox"/>
          <p:cNvSpPr/>
          <p:nvPr/>
        </p:nvSpPr>
        <p:spPr>
          <a:xfrm>
            <a:off x="476250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展示文件修改清单与风险评估</a:t>
            </a:r>
          </a:p>
        </p:txBody>
      </p:sp>
      <p:sp>
        <p:nvSpPr>
          <p:cNvPr id="17" name="TextBox"/>
          <p:cNvSpPr/>
          <p:nvPr/>
        </p:nvSpPr>
        <p:spPr>
          <a:xfrm>
            <a:off x="476250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用户确认后执行</a:t>
            </a:r>
          </a:p>
        </p:txBody>
      </p:sp>
      <p:sp>
        <p:nvSpPr>
          <p:cNvPr id="18" name="TextBox"/>
          <p:cNvSpPr/>
          <p:nvPr/>
        </p:nvSpPr>
        <p:spPr>
          <a:xfrm>
            <a:off x="476250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安全可控的操作流程</a:t>
            </a:r>
          </a:p>
        </p:txBody>
      </p:sp>
      <p:sp>
        <p:nvSpPr>
          <p:cNvPr id="19" name="Shape"/>
          <p:cNvSpPr/>
          <p:nvPr/>
        </p:nvSpPr>
        <p:spPr>
          <a:xfrm>
            <a:off x="81915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20" name="Shape"/>
          <p:cNvSpPr/>
          <p:nvPr/>
        </p:nvSpPr>
        <p:spPr>
          <a:xfrm>
            <a:off x="81915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64C896">
              <a:alpha val="100000"/>
            </a:srgbClr>
          </a:solidFill>
          <a:ln>
            <a:noFill/>
          </a:ln>
        </p:spPr>
      </p:sp>
      <p:sp>
        <p:nvSpPr>
          <p:cNvPr id="21" name="TextBox"/>
          <p:cNvSpPr/>
          <p:nvPr/>
        </p:nvSpPr>
        <p:spPr>
          <a:xfrm>
            <a:off x="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6CC8A0"/>
                </a:solidFill>
              </a:rPr>
              <a:t>Agent 智能体模式</a:t>
            </a:r>
          </a:p>
        </p:txBody>
      </p:sp>
      <p:sp>
        <p:nvSpPr>
          <p:cNvPr id="22" name="TextBox"/>
          <p:cNvSpPr/>
          <p:nvPr/>
        </p:nvSpPr>
        <p:spPr>
          <a:xfrm>
            <a:off x="84772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全自动执行，自主调用工具</a:t>
            </a:r>
          </a:p>
        </p:txBody>
      </p:sp>
      <p:sp>
        <p:nvSpPr>
          <p:cNvPr id="23" name="TextBox"/>
          <p:cNvSpPr/>
          <p:nvPr/>
        </p:nvSpPr>
        <p:spPr>
          <a:xfrm>
            <a:off x="84772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子代理协作系统（多专家协同）</a:t>
            </a:r>
          </a:p>
        </p:txBody>
      </p:sp>
      <p:sp>
        <p:nvSpPr>
          <p:cNvPr id="24" name="TextBox"/>
          <p:cNvSpPr/>
          <p:nvPr/>
        </p:nvSpPr>
        <p:spPr>
          <a:xfrm>
            <a:off x="84772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文件读写、代码编辑、Office 操作</a:t>
            </a:r>
          </a:p>
        </p:txBody>
      </p:sp>
      <p:sp>
        <p:nvSpPr>
          <p:cNvPr id="25" name="TextBox"/>
          <p:cNvSpPr/>
          <p:nvPr/>
        </p:nvSpPr>
        <p:spPr>
          <a:xfrm>
            <a:off x="84772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B0C4D8"/>
                </a:solidFill>
              </a:rPr>
              <a:t>端到端任务自动化</a:t>
            </a:r>
          </a:p>
        </p:txBody>
      </p:sp>
      <p:sp>
        <p:nvSpPr>
          <p:cNvPr id="26" name="TextBox"/>
          <p:cNvSpPr/>
          <p:nvPr/>
        </p:nvSpPr>
        <p:spPr>
          <a:xfrm>
            <a:off x="762000" y="42862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FFFFFF"/>
                </a:solidFill>
              </a:rPr>
              <a:t>子代理专家体系</a:t>
            </a:r>
          </a:p>
        </p:txBody>
      </p:sp>
      <p:sp>
        <p:nvSpPr>
          <p:cNvPr id="27" name="Shape"/>
          <p:cNvSpPr/>
          <p:nvPr/>
        </p:nvSpPr>
        <p:spPr>
          <a:xfrm>
            <a:off x="76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28" name="TextBox"/>
          <p:cNvSpPr/>
          <p:nvPr/>
        </p:nvSpPr>
        <p:spPr>
          <a:xfrm>
            <a:off x="-447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00D2FF"/>
                </a:solidFill>
              </a:rPr>
              <a:t>Word 专家</a:t>
            </a:r>
          </a:p>
        </p:txBody>
      </p:sp>
      <p:sp>
        <p:nvSpPr>
          <p:cNvPr id="29" name="TextBox"/>
          <p:cNvSpPr/>
          <p:nvPr/>
        </p:nvSpPr>
        <p:spPr>
          <a:xfrm>
            <a:off x="-447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文档创建/编辑</a:t>
            </a:r>
          </a:p>
        </p:txBody>
      </p:sp>
      <p:sp>
        <p:nvSpPr>
          <p:cNvPr id="30" name="Shape"/>
          <p:cNvSpPr/>
          <p:nvPr/>
        </p:nvSpPr>
        <p:spPr>
          <a:xfrm>
            <a:off x="266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-2571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5A9BE5"/>
                </a:solidFill>
              </a:rPr>
              <a:t>Excel 专家</a:t>
            </a:r>
          </a:p>
        </p:txBody>
      </p:sp>
      <p:sp>
        <p:nvSpPr>
          <p:cNvPr id="32" name="TextBox"/>
          <p:cNvSpPr/>
          <p:nvPr/>
        </p:nvSpPr>
        <p:spPr>
          <a:xfrm>
            <a:off x="-2571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表格处理/分析</a:t>
            </a:r>
          </a:p>
        </p:txBody>
      </p:sp>
      <p:sp>
        <p:nvSpPr>
          <p:cNvPr id="33" name="Shape"/>
          <p:cNvSpPr/>
          <p:nvPr/>
        </p:nvSpPr>
        <p:spPr>
          <a:xfrm>
            <a:off x="457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34" name="TextBox"/>
          <p:cNvSpPr/>
          <p:nvPr/>
        </p:nvSpPr>
        <p:spPr>
          <a:xfrm>
            <a:off x="-66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6CC8A0"/>
                </a:solidFill>
              </a:rPr>
              <a:t>代码专家</a:t>
            </a:r>
          </a:p>
        </p:txBody>
      </p:sp>
      <p:sp>
        <p:nvSpPr>
          <p:cNvPr id="35" name="TextBox"/>
          <p:cNvSpPr/>
          <p:nvPr/>
        </p:nvSpPr>
        <p:spPr>
          <a:xfrm>
            <a:off x="-66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代码审查/编写</a:t>
            </a:r>
          </a:p>
        </p:txBody>
      </p:sp>
      <p:sp>
        <p:nvSpPr>
          <p:cNvPr id="36" name="Shape"/>
          <p:cNvSpPr/>
          <p:nvPr/>
        </p:nvSpPr>
        <p:spPr>
          <a:xfrm>
            <a:off x="647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37" name="TextBox"/>
          <p:cNvSpPr/>
          <p:nvPr/>
        </p:nvSpPr>
        <p:spPr>
          <a:xfrm>
            <a:off x="1238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C8A050"/>
                </a:solidFill>
              </a:rPr>
              <a:t>Markdown 专家</a:t>
            </a:r>
          </a:p>
        </p:txBody>
      </p:sp>
      <p:sp>
        <p:nvSpPr>
          <p:cNvPr id="38" name="TextBox"/>
          <p:cNvSpPr/>
          <p:nvPr/>
        </p:nvSpPr>
        <p:spPr>
          <a:xfrm>
            <a:off x="1238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长文撰写/排版</a:t>
            </a:r>
          </a:p>
        </p:txBody>
      </p:sp>
      <p:sp>
        <p:nvSpPr>
          <p:cNvPr id="39" name="Shape"/>
          <p:cNvSpPr/>
          <p:nvPr/>
        </p:nvSpPr>
        <p:spPr>
          <a:xfrm>
            <a:off x="838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6478">
              <a:alpha val="100000"/>
            </a:srgbClr>
          </a:solidFill>
          <a:ln w="12700">
            <a:solidFill>
              <a:srgbClr val="C86478">
                <a:alpha val="100000"/>
              </a:srgbClr>
            </a:solidFill>
          </a:ln>
        </p:spPr>
      </p:sp>
      <p:sp>
        <p:nvSpPr>
          <p:cNvPr id="40" name="TextBox"/>
          <p:cNvSpPr/>
          <p:nvPr/>
        </p:nvSpPr>
        <p:spPr>
          <a:xfrm>
            <a:off x="3143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C86478"/>
                </a:solidFill>
              </a:rPr>
              <a:t>流程图专家</a:t>
            </a:r>
          </a:p>
        </p:txBody>
      </p:sp>
      <p:sp>
        <p:nvSpPr>
          <p:cNvPr id="41" name="TextBox"/>
          <p:cNvSpPr/>
          <p:nvPr/>
        </p:nvSpPr>
        <p:spPr>
          <a:xfrm>
            <a:off x="3143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图表渲染</a:t>
            </a:r>
          </a:p>
        </p:txBody>
      </p:sp>
      <p:sp>
        <p:nvSpPr>
          <p:cNvPr id="42" name="Shape"/>
          <p:cNvSpPr/>
          <p:nvPr/>
        </p:nvSpPr>
        <p:spPr>
          <a:xfrm>
            <a:off x="762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9664C8">
              <a:alpha val="100000"/>
            </a:srgbClr>
          </a:solidFill>
          <a:ln w="12700">
            <a:solidFill>
              <a:srgbClr val="9664C8">
                <a:alpha val="100000"/>
              </a:srgbClr>
            </a:solidFill>
          </a:ln>
        </p:spPr>
      </p:sp>
      <p:sp>
        <p:nvSpPr>
          <p:cNvPr id="43" name="TextBox"/>
          <p:cNvSpPr/>
          <p:nvPr/>
        </p:nvSpPr>
        <p:spPr>
          <a:xfrm>
            <a:off x="-4476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9664C8"/>
                </a:solidFill>
              </a:rPr>
              <a:t>批量编辑专家</a:t>
            </a:r>
          </a:p>
        </p:txBody>
      </p:sp>
      <p:sp>
        <p:nvSpPr>
          <p:cNvPr id="44" name="TextBox"/>
          <p:cNvSpPr/>
          <p:nvPr/>
        </p:nvSpPr>
        <p:spPr>
          <a:xfrm>
            <a:off x="-4476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批量文件操作</a:t>
            </a:r>
          </a:p>
        </p:txBody>
      </p:sp>
      <p:sp>
        <p:nvSpPr>
          <p:cNvPr id="45" name="Shape"/>
          <p:cNvSpPr/>
          <p:nvPr/>
        </p:nvSpPr>
        <p:spPr>
          <a:xfrm>
            <a:off x="2667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B48250">
              <a:alpha val="100000"/>
            </a:srgbClr>
          </a:solidFill>
          <a:ln w="12700">
            <a:solidFill>
              <a:srgbClr val="B48250">
                <a:alpha val="100000"/>
              </a:srgbClr>
            </a:solidFill>
          </a:ln>
        </p:spPr>
      </p:sp>
      <p:sp>
        <p:nvSpPr>
          <p:cNvPr id="46" name="TextBox"/>
          <p:cNvSpPr/>
          <p:nvPr/>
        </p:nvSpPr>
        <p:spPr>
          <a:xfrm>
            <a:off x="-2571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B48250"/>
                </a:solidFill>
              </a:rPr>
              <a:t>研究专家</a:t>
            </a:r>
          </a:p>
        </p:txBody>
      </p:sp>
      <p:sp>
        <p:nvSpPr>
          <p:cNvPr id="47" name="TextBox"/>
          <p:cNvSpPr/>
          <p:nvPr/>
        </p:nvSpPr>
        <p:spPr>
          <a:xfrm>
            <a:off x="-2571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" b="0" i="0" u="none">
                <a:solidFill>
                  <a:srgbClr val="7090B0"/>
                </a:solidFill>
              </a:rPr>
              <a:t>搜索与信息整理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多格式编辑器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00D2FF"/>
                </a:solidFill>
              </a:rPr>
              <a:t>Markdown</a:t>
            </a:r>
          </a:p>
        </p:txBody>
      </p:sp>
      <p:sp>
        <p:nvSpPr>
          <p:cNvPr id="7" name="TextBox"/>
          <p:cNvSpPr/>
          <p:nvPr/>
        </p:nvSpPr>
        <p:spPr>
          <a:xfrm>
            <a:off x="104775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所见即所得的 Markdown 编辑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实时预览 · 扩展语法（GFM）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代码高亮 · 数学公式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5A9BE5"/>
                </a:solidFill>
              </a:rPr>
              <a:t>Word 文档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ProseMirror 的富文本编辑</a:t>
            </a:r>
          </a:p>
        </p:txBody>
      </p:sp>
      <p:sp>
        <p:nvSpPr>
          <p:cNvPr id="13" name="TextBox"/>
          <p:cNvSpPr/>
          <p:nvPr/>
        </p:nvSpPr>
        <p:spPr>
          <a:xfrm>
            <a:off x="4714875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完整样式支持 · 段落/表格</a:t>
            </a:r>
          </a:p>
        </p:txBody>
      </p:sp>
      <p:sp>
        <p:nvSpPr>
          <p:cNvPr id="14" name="TextBox"/>
          <p:cNvSpPr/>
          <p:nvPr/>
        </p:nvSpPr>
        <p:spPr>
          <a:xfrm>
            <a:off x="4714875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页眉页脚 · 多节布局</a:t>
            </a:r>
          </a:p>
        </p:txBody>
      </p:sp>
      <p:sp>
        <p:nvSpPr>
          <p:cNvPr id="15" name="Shape"/>
          <p:cNvSpPr/>
          <p:nvPr/>
        </p:nvSpPr>
        <p:spPr>
          <a:xfrm>
            <a:off x="809625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6" name="TextBox"/>
          <p:cNvSpPr/>
          <p:nvPr/>
        </p:nvSpPr>
        <p:spPr>
          <a:xfrm>
            <a:off x="838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6CC8A0"/>
                </a:solidFill>
              </a:rPr>
              <a:t>Excel 电子表格</a:t>
            </a:r>
          </a:p>
        </p:txBody>
      </p:sp>
      <p:sp>
        <p:nvSpPr>
          <p:cNvPr id="17" name="TextBox"/>
          <p:cNvSpPr/>
          <p:nvPr/>
        </p:nvSpPr>
        <p:spPr>
          <a:xfrm>
            <a:off x="838200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FortuneSheet 的表格引擎</a:t>
            </a:r>
          </a:p>
        </p:txBody>
      </p:sp>
      <p:sp>
        <p:nvSpPr>
          <p:cNvPr id="18" name="TextBox"/>
          <p:cNvSpPr/>
          <p:nvPr/>
        </p:nvSpPr>
        <p:spPr>
          <a:xfrm>
            <a:off x="838200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公式支持 · 数据操作</a:t>
            </a:r>
          </a:p>
        </p:txBody>
      </p:sp>
      <p:sp>
        <p:nvSpPr>
          <p:cNvPr id="19" name="TextBox"/>
          <p:cNvSpPr/>
          <p:nvPr/>
        </p:nvSpPr>
        <p:spPr>
          <a:xfrm>
            <a:off x="838200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合并单元格 · 样式设置</a:t>
            </a:r>
          </a:p>
        </p:txBody>
      </p:sp>
      <p:sp>
        <p:nvSpPr>
          <p:cNvPr id="20" name="Shape"/>
          <p:cNvSpPr/>
          <p:nvPr/>
        </p:nvSpPr>
        <p:spPr>
          <a:xfrm>
            <a:off x="76200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21" name="TextBox"/>
          <p:cNvSpPr/>
          <p:nvPr/>
        </p:nvSpPr>
        <p:spPr>
          <a:xfrm>
            <a:off x="104775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8A050"/>
                </a:solidFill>
              </a:rPr>
              <a:t>代码编辑器</a:t>
            </a:r>
          </a:p>
        </p:txBody>
      </p:sp>
      <p:sp>
        <p:nvSpPr>
          <p:cNvPr id="22" name="TextBox"/>
          <p:cNvSpPr/>
          <p:nvPr/>
        </p:nvSpPr>
        <p:spPr>
          <a:xfrm>
            <a:off x="104775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基于 CodeMirror</a:t>
            </a:r>
          </a:p>
        </p:txBody>
      </p:sp>
      <p:sp>
        <p:nvSpPr>
          <p:cNvPr id="23" name="TextBox"/>
          <p:cNvSpPr/>
          <p:nvPr/>
        </p:nvSpPr>
        <p:spPr>
          <a:xfrm>
            <a:off x="104775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20+ 编程语言语法高亮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代码补全 · 搜索替换</a:t>
            </a:r>
          </a:p>
        </p:txBody>
      </p:sp>
      <p:sp>
        <p:nvSpPr>
          <p:cNvPr id="25" name="Shape"/>
          <p:cNvSpPr/>
          <p:nvPr/>
        </p:nvSpPr>
        <p:spPr>
          <a:xfrm>
            <a:off x="4429125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9664C8">
              <a:alpha val="100000"/>
            </a:srgbClr>
          </a:solidFill>
          <a:ln w="12700">
            <a:solidFill>
              <a:srgbClr val="9664C8">
                <a:alpha val="100000"/>
              </a:srgbClr>
            </a:solidFill>
          </a:ln>
        </p:spPr>
      </p:sp>
      <p:sp>
        <p:nvSpPr>
          <p:cNvPr id="26" name="TextBox"/>
          <p:cNvSpPr/>
          <p:nvPr/>
        </p:nvSpPr>
        <p:spPr>
          <a:xfrm>
            <a:off x="4714875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9664C8"/>
                </a:solidFill>
              </a:rPr>
              <a:t>PDF 阅读器</a:t>
            </a:r>
          </a:p>
        </p:txBody>
      </p:sp>
      <p:sp>
        <p:nvSpPr>
          <p:cNvPr id="27" name="TextBox"/>
          <p:cNvSpPr/>
          <p:nvPr/>
        </p:nvSpPr>
        <p:spPr>
          <a:xfrm>
            <a:off x="4714875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内嵌 pdf.js 引擎</a:t>
            </a:r>
          </a:p>
        </p:txBody>
      </p:sp>
      <p:sp>
        <p:nvSpPr>
          <p:cNvPr id="28" name="TextBox"/>
          <p:cNvSpPr/>
          <p:nvPr/>
        </p:nvSpPr>
        <p:spPr>
          <a:xfrm>
            <a:off x="4714875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流畅翻页 · 文本选择</a:t>
            </a:r>
          </a:p>
        </p:txBody>
      </p:sp>
      <p:sp>
        <p:nvSpPr>
          <p:cNvPr id="29" name="TextBox"/>
          <p:cNvSpPr/>
          <p:nvPr/>
        </p:nvSpPr>
        <p:spPr>
          <a:xfrm>
            <a:off x="4714875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支持大文件分页加载</a:t>
            </a:r>
          </a:p>
        </p:txBody>
      </p:sp>
      <p:sp>
        <p:nvSpPr>
          <p:cNvPr id="30" name="Shape"/>
          <p:cNvSpPr/>
          <p:nvPr/>
        </p:nvSpPr>
        <p:spPr>
          <a:xfrm>
            <a:off x="809625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5078">
              <a:alpha val="100000"/>
            </a:srgbClr>
          </a:solidFill>
          <a:ln w="12700">
            <a:solidFill>
              <a:srgbClr val="C85078">
                <a:alpha val="10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838200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" b="0" i="0" u="none">
                <a:solidFill>
                  <a:srgbClr val="C85078"/>
                </a:solidFill>
              </a:rPr>
              <a:t>SVG 图形编辑器</a:t>
            </a:r>
          </a:p>
        </p:txBody>
      </p:sp>
      <p:sp>
        <p:nvSpPr>
          <p:cNvPr id="32" name="TextBox"/>
          <p:cNvSpPr/>
          <p:nvPr/>
        </p:nvSpPr>
        <p:spPr>
          <a:xfrm>
            <a:off x="838200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原生 SVG 编辑能力</a:t>
            </a:r>
          </a:p>
        </p:txBody>
      </p:sp>
      <p:sp>
        <p:nvSpPr>
          <p:cNvPr id="33" name="TextBox"/>
          <p:cNvSpPr/>
          <p:nvPr/>
        </p:nvSpPr>
        <p:spPr>
          <a:xfrm>
            <a:off x="838200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矢量图形 · 缩放不失真</a:t>
            </a:r>
          </a:p>
        </p:txBody>
      </p:sp>
      <p:sp>
        <p:nvSpPr>
          <p:cNvPr id="34" name="TextBox"/>
          <p:cNvSpPr/>
          <p:nvPr/>
        </p:nvSpPr>
        <p:spPr>
          <a:xfrm>
            <a:off x="838200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可导出为标准 SVG</a:t>
            </a:r>
          </a:p>
        </p:txBody>
      </p:sp>
      <p:sp>
        <p:nvSpPr>
          <p:cNvPr id="35" name="Shape"/>
          <p:cNvSpPr/>
          <p:nvPr/>
        </p:nvSpPr>
        <p:spPr>
          <a:xfrm>
            <a:off x="762000" y="5048250"/>
            <a:ext cx="10668000" cy="476250"/>
          </a:xfrm>
          <a:prstGeom prst="roundRect">
            <a:avLst>
              <a:gd name="adj" fmla="val 714"/>
            </a:avLst>
          </a:prstGeom>
          <a:solidFill>
            <a:srgbClr val="FFFFFF">
              <a:alpha val="100000"/>
            </a:srgbClr>
          </a:solidFill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36" name="TextBox"/>
          <p:cNvSpPr/>
          <p:nvPr/>
        </p:nvSpPr>
        <p:spPr>
          <a:xfrm>
            <a:off x="0" y="53340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" b="0" i="0" u="none">
                <a:solidFill>
                  <a:srgbClr val="7090B0"/>
                </a:solidFill>
              </a:rPr>
              <a:t>统一的标签页管理 · 拖拽排序 · 智能文件类型识别 · 自动保存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智能特性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10477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00D2FF"/>
                </a:solidFill>
              </a:rPr>
              <a:t>智能差异对比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AI 修改建议以行级差异对比呈现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逐行高亮显示增加/删除/修改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用户可逐条审阅、接受或拒绝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完全掌控编辑过程，安全透明</a:t>
            </a:r>
          </a:p>
        </p:txBody>
      </p:sp>
      <p:sp>
        <p:nvSpPr>
          <p:cNvPr id="12" name="TextBox"/>
          <p:cNvSpPr/>
          <p:nvPr/>
        </p:nvSpPr>
        <p:spPr>
          <a:xfrm>
            <a:off x="10477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6090B0"/>
                </a:solidFill>
              </a:rPr>
              <a:t>支持 Markdown、Word、代码等多种格式的差异对比</a:t>
            </a:r>
          </a:p>
        </p:txBody>
      </p:sp>
      <p:sp>
        <p:nvSpPr>
          <p:cNvPr id="13" name="Shape"/>
          <p:cNvSpPr/>
          <p:nvPr/>
        </p:nvSpPr>
        <p:spPr>
          <a:xfrm>
            <a:off x="62865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14" name="Shape"/>
          <p:cNvSpPr/>
          <p:nvPr/>
        </p:nvSpPr>
        <p:spPr>
          <a:xfrm>
            <a:off x="62865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64C896">
              <a:alpha val="100000"/>
            </a:srgbClr>
          </a:solidFill>
          <a:ln>
            <a:noFill/>
          </a:ln>
        </p:spPr>
      </p:sp>
      <p:sp>
        <p:nvSpPr>
          <p:cNvPr id="15" name="TextBox"/>
          <p:cNvSpPr/>
          <p:nvPr/>
        </p:nvSpPr>
        <p:spPr>
          <a:xfrm>
            <a:off x="65722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6CC8A0"/>
                </a:solidFill>
              </a:rPr>
              <a:t>知识库系统</a:t>
            </a:r>
          </a:p>
        </p:txBody>
      </p:sp>
      <p:sp>
        <p:nvSpPr>
          <p:cNvPr id="16" name="TextBox"/>
          <p:cNvSpPr/>
          <p:nvPr/>
        </p:nvSpPr>
        <p:spPr>
          <a:xfrm>
            <a:off x="65722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工作区语义知识库构建</a:t>
            </a:r>
          </a:p>
        </p:txBody>
      </p:sp>
      <p:sp>
        <p:nvSpPr>
          <p:cNvPr id="17" name="TextBox"/>
          <p:cNvSpPr/>
          <p:nvPr/>
        </p:nvSpPr>
        <p:spPr>
          <a:xfrm>
            <a:off x="65722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自动文档索引与向量化</a:t>
            </a:r>
          </a:p>
        </p:txBody>
      </p:sp>
      <p:sp>
        <p:nvSpPr>
          <p:cNvPr id="18" name="TextBox"/>
          <p:cNvSpPr/>
          <p:nvPr/>
        </p:nvSpPr>
        <p:spPr>
          <a:xfrm>
            <a:off x="65722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智能语义检索（相似度搜索）</a:t>
            </a:r>
          </a:p>
        </p:txBody>
      </p:sp>
      <p:sp>
        <p:nvSpPr>
          <p:cNvPr id="19" name="TextBox"/>
          <p:cNvSpPr/>
          <p:nvPr/>
        </p:nvSpPr>
        <p:spPr>
          <a:xfrm>
            <a:off x="65722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上下文感知的 AI 问答</a:t>
            </a:r>
          </a:p>
        </p:txBody>
      </p:sp>
      <p:sp>
        <p:nvSpPr>
          <p:cNvPr id="20" name="TextBox"/>
          <p:cNvSpPr/>
          <p:nvPr/>
        </p:nvSpPr>
        <p:spPr>
          <a:xfrm>
            <a:off x="65722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6090B0"/>
                </a:solidFill>
              </a:rPr>
              <a:t>支持多种嵌入模型：bge-small/large-zh</a:t>
            </a:r>
          </a:p>
        </p:txBody>
      </p:sp>
      <p:sp>
        <p:nvSpPr>
          <p:cNvPr id="21" name="Shape"/>
          <p:cNvSpPr/>
          <p:nvPr/>
        </p:nvSpPr>
        <p:spPr>
          <a:xfrm>
            <a:off x="762000" y="4286250"/>
            <a:ext cx="10668000" cy="1428750"/>
          </a:xfrm>
          <a:prstGeom prst="roundRect">
            <a:avLst>
              <a:gd name="adj" fmla="val 1071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22" name="Shape"/>
          <p:cNvSpPr/>
          <p:nvPr/>
        </p:nvSpPr>
        <p:spPr>
          <a:xfrm>
            <a:off x="762000" y="4286250"/>
            <a:ext cx="10668000" cy="419100"/>
          </a:xfrm>
          <a:prstGeom prst="roundRect">
            <a:avLst>
              <a:gd name="adj" fmla="val 1071"/>
            </a:avLst>
          </a:prstGeom>
          <a:solidFill>
            <a:srgbClr val="3A7BD5">
              <a:alpha val="100000"/>
            </a:srgbClr>
          </a:solidFill>
          <a:ln>
            <a:noFill/>
          </a:ln>
        </p:spPr>
      </p:sp>
      <p:sp>
        <p:nvSpPr>
          <p:cNvPr id="23" name="TextBox"/>
          <p:cNvSpPr/>
          <p:nvPr/>
        </p:nvSpPr>
        <p:spPr>
          <a:xfrm>
            <a:off x="1047750" y="4552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" b="0" i="0" u="none">
                <a:solidFill>
                  <a:srgbClr val="5A9BE5"/>
                </a:solidFill>
              </a:rPr>
              <a:t>云服务与模型支持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953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inkuo Cloud 集成 · 多模型提供商切换（OpenAI / DeepSeek / Ollama 等）</a:t>
            </a:r>
          </a:p>
        </p:txBody>
      </p:sp>
      <p:sp>
        <p:nvSpPr>
          <p:cNvPr id="25" name="TextBox"/>
          <p:cNvSpPr/>
          <p:nvPr/>
        </p:nvSpPr>
        <p:spPr>
          <a:xfrm>
            <a:off x="1047750" y="5238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" b="0" i="0" u="none">
                <a:solidFill>
                  <a:srgbClr val="C0D0E8"/>
                </a:solidFill>
              </a:rPr>
              <a:t>可配置的 API 设置 · 温度/最大 Token 参数 · 灵活的模型路由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技术架构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00D2FF">
              <a:alpha val="100000"/>
            </a:srgbClr>
          </a:solidFill>
          <a:ln w="19050">
            <a:solidFill>
              <a:srgbClr val="00D2FF">
                <a:alpha val="10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00D2FF"/>
                </a:solidFill>
              </a:rPr>
              <a:t>桌面外壳</a:t>
            </a:r>
          </a:p>
        </p:txBody>
      </p:sp>
      <p:sp>
        <p:nvSpPr>
          <p:cNvPr id="7" name="TextBox"/>
          <p:cNvSpPr/>
          <p:nvPr/>
        </p:nvSpPr>
        <p:spPr>
          <a:xfrm>
            <a:off x="3048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Tauri 2（Rust 后端）</a:t>
            </a:r>
          </a:p>
        </p:txBody>
      </p:sp>
      <p:sp>
        <p:nvSpPr>
          <p:cNvPr id="8" name="TextBox"/>
          <p:cNvSpPr/>
          <p:nvPr/>
        </p:nvSpPr>
        <p:spPr>
          <a:xfrm>
            <a:off x="55245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WebView2 渲染引擎</a:t>
            </a:r>
          </a:p>
        </p:txBody>
      </p:sp>
      <p:sp>
        <p:nvSpPr>
          <p:cNvPr id="9" name="TextBox"/>
          <p:cNvSpPr/>
          <p:nvPr/>
        </p:nvSpPr>
        <p:spPr>
          <a:xfrm>
            <a:off x="8001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原生文件系统 · 系统对话框 · 多窗口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249555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1" name="Shape"/>
          <p:cNvSpPr/>
          <p:nvPr/>
        </p:nvSpPr>
        <p:spPr>
          <a:xfrm>
            <a:off x="762000" y="261937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3A7BD5">
              <a:alpha val="100000"/>
            </a:srgbClr>
          </a:solidFill>
          <a:ln w="19050">
            <a:solidFill>
              <a:srgbClr val="3A7BD5">
                <a:alpha val="100000"/>
              </a:srgbClr>
            </a:solidFill>
          </a:ln>
        </p:spPr>
      </p:sp>
      <p:sp>
        <p:nvSpPr>
          <p:cNvPr id="12" name="TextBox"/>
          <p:cNvSpPr/>
          <p:nvPr/>
        </p:nvSpPr>
        <p:spPr>
          <a:xfrm>
            <a:off x="1047750" y="300037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5A9BE5"/>
                </a:solidFill>
              </a:rPr>
              <a:t>前端框架</a:t>
            </a:r>
          </a:p>
        </p:txBody>
      </p:sp>
      <p:sp>
        <p:nvSpPr>
          <p:cNvPr id="13" name="TextBox"/>
          <p:cNvSpPr/>
          <p:nvPr/>
        </p:nvSpPr>
        <p:spPr>
          <a:xfrm>
            <a:off x="3048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React 19 + TypeScript</a:t>
            </a:r>
          </a:p>
        </p:txBody>
      </p:sp>
      <p:sp>
        <p:nvSpPr>
          <p:cNvPr id="14" name="TextBox"/>
          <p:cNvSpPr/>
          <p:nvPr/>
        </p:nvSpPr>
        <p:spPr>
          <a:xfrm>
            <a:off x="55245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Vite 7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8001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Zustand 5 状态管理</a:t>
            </a:r>
          </a:p>
        </p:txBody>
      </p:sp>
      <p:sp>
        <p:nvSpPr>
          <p:cNvPr id="16" name="TextBox"/>
          <p:cNvSpPr/>
          <p:nvPr/>
        </p:nvSpPr>
        <p:spPr>
          <a:xfrm>
            <a:off x="0" y="349567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7" name="Shape"/>
          <p:cNvSpPr/>
          <p:nvPr/>
        </p:nvSpPr>
        <p:spPr>
          <a:xfrm>
            <a:off x="762000" y="361950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64C896">
              <a:alpha val="100000"/>
            </a:srgbClr>
          </a:solidFill>
          <a:ln w="19050">
            <a:solidFill>
              <a:srgbClr val="64C896">
                <a:alpha val="100000"/>
              </a:srgbClr>
            </a:solidFill>
          </a:ln>
        </p:spPr>
      </p:sp>
      <p:sp>
        <p:nvSpPr>
          <p:cNvPr id="18" name="TextBox"/>
          <p:cNvSpPr/>
          <p:nvPr/>
        </p:nvSpPr>
        <p:spPr>
          <a:xfrm>
            <a:off x="1047750" y="400050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6CC8A0"/>
                </a:solidFill>
              </a:rPr>
              <a:t>编辑器核心</a:t>
            </a:r>
          </a:p>
        </p:txBody>
      </p:sp>
      <p:sp>
        <p:nvSpPr>
          <p:cNvPr id="19" name="TextBox"/>
          <p:cNvSpPr/>
          <p:nvPr/>
        </p:nvSpPr>
        <p:spPr>
          <a:xfrm>
            <a:off x="3048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ProseMirror（富文本）</a:t>
            </a:r>
          </a:p>
        </p:txBody>
      </p:sp>
      <p:sp>
        <p:nvSpPr>
          <p:cNvPr id="20" name="TextBox"/>
          <p:cNvSpPr/>
          <p:nvPr/>
        </p:nvSpPr>
        <p:spPr>
          <a:xfrm>
            <a:off x="55245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CodeMirror（代码）</a:t>
            </a:r>
          </a:p>
        </p:txBody>
      </p:sp>
      <p:sp>
        <p:nvSpPr>
          <p:cNvPr id="21" name="TextBox"/>
          <p:cNvSpPr/>
          <p:nvPr/>
        </p:nvSpPr>
        <p:spPr>
          <a:xfrm>
            <a:off x="8001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FortuneSheet（表格）</a:t>
            </a:r>
          </a:p>
        </p:txBody>
      </p:sp>
      <p:sp>
        <p:nvSpPr>
          <p:cNvPr id="22" name="TextBox"/>
          <p:cNvSpPr/>
          <p:nvPr/>
        </p:nvSpPr>
        <p:spPr>
          <a:xfrm>
            <a:off x="0" y="44958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3" name="Shape"/>
          <p:cNvSpPr/>
          <p:nvPr/>
        </p:nvSpPr>
        <p:spPr>
          <a:xfrm>
            <a:off x="762000" y="461962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9650">
              <a:alpha val="100000"/>
            </a:srgbClr>
          </a:solidFill>
          <a:ln w="19050">
            <a:solidFill>
              <a:srgbClr val="C89650">
                <a:alpha val="100000"/>
              </a:srgbClr>
            </a:solidFill>
          </a:ln>
        </p:spPr>
      </p:sp>
      <p:sp>
        <p:nvSpPr>
          <p:cNvPr id="24" name="TextBox"/>
          <p:cNvSpPr/>
          <p:nvPr/>
        </p:nvSpPr>
        <p:spPr>
          <a:xfrm>
            <a:off x="1047750" y="500062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C8A050"/>
                </a:solidFill>
              </a:rPr>
              <a:t>AI 引擎与服务</a:t>
            </a:r>
          </a:p>
        </p:txBody>
      </p:sp>
      <p:sp>
        <p:nvSpPr>
          <p:cNvPr id="25" name="TextBox"/>
          <p:cNvSpPr/>
          <p:nvPr/>
        </p:nvSpPr>
        <p:spPr>
          <a:xfrm>
            <a:off x="3048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AI Agent 智能体系统</a:t>
            </a:r>
          </a:p>
        </p:txBody>
      </p:sp>
      <p:sp>
        <p:nvSpPr>
          <p:cNvPr id="26" name="TextBox"/>
          <p:cNvSpPr/>
          <p:nvPr/>
        </p:nvSpPr>
        <p:spPr>
          <a:xfrm>
            <a:off x="55245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知识库（向量搜索）</a:t>
            </a:r>
          </a:p>
        </p:txBody>
      </p:sp>
      <p:sp>
        <p:nvSpPr>
          <p:cNvPr id="27" name="TextBox"/>
          <p:cNvSpPr/>
          <p:nvPr/>
        </p:nvSpPr>
        <p:spPr>
          <a:xfrm>
            <a:off x="8001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inkuo Cloud 云服务</a:t>
            </a:r>
          </a:p>
        </p:txBody>
      </p:sp>
      <p:sp>
        <p:nvSpPr>
          <p:cNvPr id="28" name="TextBox"/>
          <p:cNvSpPr/>
          <p:nvPr/>
        </p:nvSpPr>
        <p:spPr>
          <a:xfrm>
            <a:off x="0" y="54959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9" name="Shape"/>
          <p:cNvSpPr/>
          <p:nvPr/>
        </p:nvSpPr>
        <p:spPr>
          <a:xfrm>
            <a:off x="762000" y="56197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5078">
              <a:alpha val="100000"/>
            </a:srgbClr>
          </a:solidFill>
          <a:ln w="19050">
            <a:solidFill>
              <a:srgbClr val="C85078">
                <a:alpha val="100000"/>
              </a:srgbClr>
            </a:solidFill>
          </a:ln>
        </p:spPr>
      </p:sp>
      <p:sp>
        <p:nvSpPr>
          <p:cNvPr id="30" name="TextBox"/>
          <p:cNvSpPr/>
          <p:nvPr/>
        </p:nvSpPr>
        <p:spPr>
          <a:xfrm>
            <a:off x="1047750" y="6000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" b="0" i="0" u="none">
                <a:solidFill>
                  <a:srgbClr val="C85078"/>
                </a:solidFill>
              </a:rPr>
              <a:t>文档解析引擎</a:t>
            </a:r>
          </a:p>
        </p:txBody>
      </p:sp>
      <p:sp>
        <p:nvSpPr>
          <p:cNvPr id="31" name="TextBox"/>
          <p:cNvSpPr/>
          <p:nvPr/>
        </p:nvSpPr>
        <p:spPr>
          <a:xfrm>
            <a:off x="3048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docx-editor-core（Word）</a:t>
            </a:r>
          </a:p>
        </p:txBody>
      </p:sp>
      <p:sp>
        <p:nvSpPr>
          <p:cNvPr id="32" name="TextBox"/>
          <p:cNvSpPr/>
          <p:nvPr/>
        </p:nvSpPr>
        <p:spPr>
          <a:xfrm>
            <a:off x="55245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xlsx（Excel）</a:t>
            </a:r>
          </a:p>
        </p:txBody>
      </p:sp>
      <p:sp>
        <p:nvSpPr>
          <p:cNvPr id="33" name="TextBox"/>
          <p:cNvSpPr/>
          <p:nvPr/>
        </p:nvSpPr>
        <p:spPr>
          <a:xfrm>
            <a:off x="8001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B0C4D8"/>
                </a:solidFill>
              </a:rPr>
              <a:t>pdfjs-dist（PDF）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" b="0" i="0" u="none">
                <a:solidFill>
                  <a:srgbClr val="FFFFFF"/>
                </a:solidFill>
              </a:rPr>
              <a:t>跨平台支持与适用场景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47675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TextBox"/>
          <p:cNvSpPr/>
          <p:nvPr/>
        </p:nvSpPr>
        <p:spPr>
          <a:xfrm>
            <a:off x="762000" y="171450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00D2FF"/>
                </a:solidFill>
              </a:rPr>
              <a:t>跨平台支持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7" name="TextBox"/>
          <p:cNvSpPr/>
          <p:nvPr/>
        </p:nvSpPr>
        <p:spPr>
          <a:xfrm>
            <a:off x="-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Windows</a:t>
            </a:r>
          </a:p>
        </p:txBody>
      </p:sp>
      <p:sp>
        <p:nvSpPr>
          <p:cNvPr id="8" name="TextBox"/>
          <p:cNvSpPr/>
          <p:nvPr/>
        </p:nvSpPr>
        <p:spPr>
          <a:xfrm>
            <a:off x="-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Windows 10/11 · NSIS/MSI 安装</a:t>
            </a:r>
          </a:p>
        </p:txBody>
      </p:sp>
      <p:sp>
        <p:nvSpPr>
          <p:cNvPr id="9" name="Shape"/>
          <p:cNvSpPr/>
          <p:nvPr/>
        </p:nvSpPr>
        <p:spPr>
          <a:xfrm>
            <a:off x="447675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10" name="TextBox"/>
          <p:cNvSpPr/>
          <p:nvPr/>
        </p:nvSpPr>
        <p:spPr>
          <a:xfrm>
            <a:off x="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macOS</a:t>
            </a:r>
          </a:p>
        </p:txBody>
      </p:sp>
      <p:sp>
        <p:nvSpPr>
          <p:cNvPr id="11" name="TextBox"/>
          <p:cNvSpPr/>
          <p:nvPr/>
        </p:nvSpPr>
        <p:spPr>
          <a:xfrm>
            <a:off x="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.dmg 构建</a:t>
            </a:r>
          </a:p>
        </p:txBody>
      </p:sp>
      <p:sp>
        <p:nvSpPr>
          <p:cNvPr id="12" name="Shape"/>
          <p:cNvSpPr/>
          <p:nvPr/>
        </p:nvSpPr>
        <p:spPr>
          <a:xfrm>
            <a:off x="81915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13" name="TextBox"/>
          <p:cNvSpPr/>
          <p:nvPr/>
        </p:nvSpPr>
        <p:spPr>
          <a:xfrm>
            <a:off x="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" b="0" i="0" u="none">
                <a:solidFill>
                  <a:srgbClr val="FFFFFF"/>
                </a:solidFill>
              </a:rPr>
              <a:t>Linux</a:t>
            </a:r>
          </a:p>
        </p:txBody>
      </p:sp>
      <p:sp>
        <p:nvSpPr>
          <p:cNvPr id="14" name="TextBox"/>
          <p:cNvSpPr/>
          <p:nvPr/>
        </p:nvSpPr>
        <p:spPr>
          <a:xfrm>
            <a:off x="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" b="0" i="0" u="none">
                <a:solidFill>
                  <a:srgbClr val="7090B0"/>
                </a:solidFill>
              </a:rPr>
              <a:t>.deb / AppImage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762000" y="33337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" b="0" i="0" u="none">
                <a:solidFill>
                  <a:srgbClr val="5A9BE5"/>
                </a:solidFill>
              </a:rPr>
              <a:t>适用场景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17" name="TextBox"/>
          <p:cNvSpPr/>
          <p:nvPr/>
        </p:nvSpPr>
        <p:spPr>
          <a:xfrm>
            <a:off x="-41243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00D2FF"/>
                </a:solidFill>
              </a:rPr>
              <a:t>开发者</a:t>
            </a:r>
          </a:p>
        </p:txBody>
      </p:sp>
      <p:sp>
        <p:nvSpPr>
          <p:cNvPr id="18" name="TextBox"/>
          <p:cNvSpPr/>
          <p:nvPr/>
        </p:nvSpPr>
        <p:spPr>
          <a:xfrm>
            <a:off x="95250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技术文档编写</a:t>
            </a:r>
          </a:p>
        </p:txBody>
      </p:sp>
      <p:sp>
        <p:nvSpPr>
          <p:cNvPr id="19" name="TextBox"/>
          <p:cNvSpPr/>
          <p:nvPr/>
        </p:nvSpPr>
        <p:spPr>
          <a:xfrm>
            <a:off x="95250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代码阅读与编辑</a:t>
            </a:r>
          </a:p>
        </p:txBody>
      </p:sp>
      <p:sp>
        <p:nvSpPr>
          <p:cNvPr id="20" name="TextBox"/>
          <p:cNvSpPr/>
          <p:nvPr/>
        </p:nvSpPr>
        <p:spPr>
          <a:xfrm>
            <a:off x="95250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AI 辅助编程</a:t>
            </a:r>
          </a:p>
        </p:txBody>
      </p:sp>
      <p:sp>
        <p:nvSpPr>
          <p:cNvPr id="21" name="Shape"/>
          <p:cNvSpPr/>
          <p:nvPr/>
        </p:nvSpPr>
        <p:spPr>
          <a:xfrm>
            <a:off x="338137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3A7BD5">
              <a:alpha val="100000"/>
            </a:srgbClr>
          </a:solidFill>
          <a:ln w="12700">
            <a:solidFill>
              <a:srgbClr val="3A7BD5">
                <a:alpha val="100000"/>
              </a:srgbClr>
            </a:solidFill>
          </a:ln>
        </p:spPr>
      </p:sp>
      <p:sp>
        <p:nvSpPr>
          <p:cNvPr id="22" name="TextBox"/>
          <p:cNvSpPr/>
          <p:nvPr/>
        </p:nvSpPr>
        <p:spPr>
          <a:xfrm>
            <a:off x="-150495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5A9BE5"/>
                </a:solidFill>
              </a:rPr>
              <a:t>写作者</a:t>
            </a:r>
          </a:p>
        </p:txBody>
      </p:sp>
      <p:sp>
        <p:nvSpPr>
          <p:cNvPr id="23" name="TextBox"/>
          <p:cNvSpPr/>
          <p:nvPr/>
        </p:nvSpPr>
        <p:spPr>
          <a:xfrm>
            <a:off x="357187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Markdown/Word 创作</a:t>
            </a:r>
          </a:p>
        </p:txBody>
      </p:sp>
      <p:sp>
        <p:nvSpPr>
          <p:cNvPr id="24" name="TextBox"/>
          <p:cNvSpPr/>
          <p:nvPr/>
        </p:nvSpPr>
        <p:spPr>
          <a:xfrm>
            <a:off x="357187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AI 辅助润色</a:t>
            </a:r>
          </a:p>
        </p:txBody>
      </p:sp>
      <p:sp>
        <p:nvSpPr>
          <p:cNvPr id="25" name="TextBox"/>
          <p:cNvSpPr/>
          <p:nvPr/>
        </p:nvSpPr>
        <p:spPr>
          <a:xfrm>
            <a:off x="357187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多格式输出</a:t>
            </a:r>
          </a:p>
        </p:txBody>
      </p:sp>
      <p:sp>
        <p:nvSpPr>
          <p:cNvPr id="26" name="Shape"/>
          <p:cNvSpPr/>
          <p:nvPr/>
        </p:nvSpPr>
        <p:spPr>
          <a:xfrm>
            <a:off x="600075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64C896">
              <a:alpha val="100000"/>
            </a:srgbClr>
          </a:solidFill>
          <a:ln w="12700">
            <a:solidFill>
              <a:srgbClr val="64C896">
                <a:alpha val="100000"/>
              </a:srgbClr>
            </a:solidFill>
          </a:ln>
        </p:spPr>
      </p:sp>
      <p:sp>
        <p:nvSpPr>
          <p:cNvPr id="27" name="TextBox"/>
          <p:cNvSpPr/>
          <p:nvPr/>
        </p:nvSpPr>
        <p:spPr>
          <a:xfrm>
            <a:off x="11144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6CC8A0"/>
                </a:solidFill>
              </a:rPr>
              <a:t>数据分析师</a:t>
            </a:r>
          </a:p>
        </p:txBody>
      </p:sp>
      <p:sp>
        <p:nvSpPr>
          <p:cNvPr id="28" name="TextBox"/>
          <p:cNvSpPr/>
          <p:nvPr/>
        </p:nvSpPr>
        <p:spPr>
          <a:xfrm>
            <a:off x="619125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表格数据处理</a:t>
            </a:r>
          </a:p>
        </p:txBody>
      </p:sp>
      <p:sp>
        <p:nvSpPr>
          <p:cNvPr id="29" name="TextBox"/>
          <p:cNvSpPr/>
          <p:nvPr/>
        </p:nvSpPr>
        <p:spPr>
          <a:xfrm>
            <a:off x="619125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公式运算</a:t>
            </a:r>
          </a:p>
        </p:txBody>
      </p:sp>
      <p:sp>
        <p:nvSpPr>
          <p:cNvPr id="30" name="TextBox"/>
          <p:cNvSpPr/>
          <p:nvPr/>
        </p:nvSpPr>
        <p:spPr>
          <a:xfrm>
            <a:off x="619125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报告生成</a:t>
            </a:r>
          </a:p>
        </p:txBody>
      </p:sp>
      <p:sp>
        <p:nvSpPr>
          <p:cNvPr id="31" name="Shape"/>
          <p:cNvSpPr/>
          <p:nvPr/>
        </p:nvSpPr>
        <p:spPr>
          <a:xfrm>
            <a:off x="862012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C89650">
              <a:alpha val="100000"/>
            </a:srgbClr>
          </a:solidFill>
          <a:ln w="12700">
            <a:solidFill>
              <a:srgbClr val="C89650">
                <a:alpha val="100000"/>
              </a:srgbClr>
            </a:solidFill>
          </a:ln>
        </p:spPr>
      </p:sp>
      <p:sp>
        <p:nvSpPr>
          <p:cNvPr id="32" name="TextBox"/>
          <p:cNvSpPr/>
          <p:nvPr/>
        </p:nvSpPr>
        <p:spPr>
          <a:xfrm>
            <a:off x="373380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C8A050"/>
                </a:solidFill>
              </a:rPr>
              <a:t>项目经理</a:t>
            </a:r>
          </a:p>
        </p:txBody>
      </p:sp>
      <p:sp>
        <p:nvSpPr>
          <p:cNvPr id="33" name="TextBox"/>
          <p:cNvSpPr/>
          <p:nvPr/>
        </p:nvSpPr>
        <p:spPr>
          <a:xfrm>
            <a:off x="881062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项目文档审阅</a:t>
            </a:r>
          </a:p>
        </p:txBody>
      </p:sp>
      <p:sp>
        <p:nvSpPr>
          <p:cNvPr id="34" name="TextBox"/>
          <p:cNvSpPr/>
          <p:nvPr/>
        </p:nvSpPr>
        <p:spPr>
          <a:xfrm>
            <a:off x="881062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协作流程管理</a:t>
            </a:r>
          </a:p>
        </p:txBody>
      </p:sp>
      <p:sp>
        <p:nvSpPr>
          <p:cNvPr id="35" name="TextBox"/>
          <p:cNvSpPr/>
          <p:nvPr/>
        </p:nvSpPr>
        <p:spPr>
          <a:xfrm>
            <a:off x="881062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" b="0" i="0" u="none">
                <a:solidFill>
                  <a:srgbClr val="A0B4C8"/>
                </a:solidFill>
              </a:rPr>
              <a:t>知识库维护</a:t>
            </a:r>
          </a:p>
        </p:txBody>
      </p:sp>
      <p:sp>
        <p:nvSpPr>
          <p:cNvPr id="36" name="TextBox"/>
          <p:cNvSpPr/>
          <p:nvPr/>
        </p:nvSpPr>
        <p:spPr>
          <a:xfrm>
            <a:off x="762000" y="5143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" b="0" i="0" u="none">
                <a:solidFill>
                  <a:srgbClr val="6080A0"/>
                </a:solidFill>
              </a:rPr>
              <a:t>更多场景：研究人员（PDF 阅读与知识整理）· 学生（笔记与作业）· 团队协作（云端同步）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3429000" y="762000"/>
            <a:ext cx="5334000" cy="5334000"/>
          </a:xfrm>
          <a:prstGeom prst="ellipse">
            <a:avLst/>
          </a:prstGeom>
          <a:noFill/>
          <a:ln w="12700">
            <a:solidFill>
              <a:srgbClr val="FFFFFF">
                <a:alpha val="100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4191000" y="1524000"/>
            <a:ext cx="3810000" cy="3810000"/>
          </a:xfrm>
          <a:prstGeom prst="ellipse">
            <a:avLst/>
          </a:prstGeom>
          <a:noFill/>
          <a:ln w="6350">
            <a:solidFill>
              <a:srgbClr val="FFFFFF">
                <a:alpha val="100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6" name="TextBox"/>
          <p:cNvSpPr/>
          <p:nvPr/>
        </p:nvSpPr>
        <p:spPr>
          <a:xfrm>
            <a:off x="0" y="2857500"/>
            <a:ext cx="12192000" cy="853440"/>
          </a:xfrm>
        </p:spPr>
        <p:txBody>
          <a:bodyPr wrap="square" rtlCol="0" anchor="t"/>
          <a:lstStyle/>
          <a:p>
            <a:pPr algn="ctr"/>
            <a:r>
              <a:rPr lang="en-US" sz="48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7" name="TextBox"/>
          <p:cNvSpPr/>
          <p:nvPr/>
        </p:nvSpPr>
        <p:spPr>
          <a:xfrm>
            <a:off x="0" y="3429000"/>
            <a:ext cx="12192000" cy="391160"/>
          </a:xfrm>
        </p:spPr>
        <p:txBody>
          <a:bodyPr wrap="square" rtlCol="0" anchor="t"/>
          <a:lstStyle/>
          <a:p>
            <a:pPr algn="ctr"/>
            <a:r>
              <a:rPr lang="en-US" sz="22" b="0" i="0" u="none">
                <a:solidFill>
                  <a:srgbClr val="A0B4D8"/>
                </a:solidFill>
              </a:rPr>
              <a:t>AI 文档编辑中枢</a:t>
            </a:r>
          </a:p>
        </p:txBody>
      </p:sp>
      <p:sp>
        <p:nvSpPr>
          <p:cNvPr id="8" name="TextBox"/>
          <p:cNvSpPr/>
          <p:nvPr/>
        </p:nvSpPr>
        <p:spPr>
          <a:xfrm>
            <a:off x="0" y="40005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" b="0" i="0" u="none">
                <a:solidFill>
                  <a:srgbClr val="6C8EB0"/>
                </a:solidFill>
              </a:rPr>
              <a:t>融合 AI 智能与多格式编辑能力 · 让文档创作更高效、更智能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476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" b="0" i="0" u="none">
                <a:solidFill>
                  <a:srgbClr val="4A6A8A"/>
                </a:solidFill>
              </a:rPr>
              <a:t>开源 · 跨平台 · 可扩展</a:t>
            </a:r>
          </a:p>
        </p:txBody>
      </p:sp>
      <p:sp>
        <p:nvSpPr>
          <p:cNvPr id="10" name="Shape"/>
          <p:cNvSpPr/>
          <p:nvPr/>
        </p:nvSpPr>
        <p:spPr>
          <a:xfrm>
            <a:off x="4667250" y="4953000"/>
            <a:ext cx="2857500" cy="419100"/>
          </a:xfrm>
          <a:prstGeom prst="roundRect">
            <a:avLst>
              <a:gd name="adj" fmla="val 7333"/>
            </a:avLst>
          </a:prstGeom>
          <a:solidFill>
            <a:srgbClr val="00D2FF">
              <a:alpha val="100000"/>
            </a:srgbClr>
          </a:solidFill>
          <a:ln w="12700">
            <a:solidFill>
              <a:srgbClr val="00D2FF">
                <a:alpha val="10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0" y="52197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" b="0" i="0" u="none">
                <a:solidFill>
                  <a:srgbClr val="00D2FF"/>
                </a:solidFill>
              </a:rPr>
              <a:t>github.com/inkuo/inkuo</a:t>
            </a:r>
          </a:p>
        </p:txBody>
      </p:sp>
    </p:spTree>
  </p:cSld>
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E2E Smoke</dc:title>
  <dc:creator>inkuo AI</dc:creator>
  <cp:lastModifiedBy>inkuo AI</cp:lastModifiedBy>
  <dcterms:created xsi:type="dcterms:W3CDTF">2026-07-22T01:23:41.539967369+00:00</dcterms:created>
  <dcterms:modified xsi:type="dcterms:W3CDTF">2026-07-22T01:23:41.539967369+00:00</dcterms:modified>
</cp:coreProperties>
</file>